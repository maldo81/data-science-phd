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Firms</c:v>
                </c:pt>
              </c:strCache>
            </c:strRef>
          </c:tx>
          <c:spPr>
            <a:solidFill>
              <a:srgbClr val="0F766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Alive</c:v>
                  </c:pt>
                  <c:pt idx="1">
                    <c:v>Failed</c:v>
                  </c:pt>
                </c:lvl>
              </c:multiLvlStrCache>
            </c:multiLvlStrRef>
          </c:cat>
          <c:val>
            <c:numRef>
              <c:f>Sheet1!$B$2:$B$3</c:f>
              <c:numCache>
                <c:formatCode>General</c:formatCode>
                <c:ptCount val="2"/>
                <c:pt idx="0">
                  <c:v>8362</c:v>
                </c:pt>
                <c:pt idx="1">
                  <c:v>609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summarizes the full EDA workflow and the k-means (k=2) clustering model used to approximate bankruptcy status. It is designed to accompany the annotated R Markdown report and highlight key decisions, results, and limitations.
[Sources]
- https://projecteuclid.org/journals/annals-of-mathematical-statistics/volume-33/issue-1/The-Future-of-Data-Analysis/10.1214/aoms/1177704711.full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contains firm identifiers, a year, and multiple numeric financial features, with bankruptcy (failed) as a minority class. Because each firm can appear in multiple years, we prevent leakage by splitting at the company level when building the modeling table.
[Sources]
- https://www.sciencedirect.com/science/article/pii/S0957417417307224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is used to understand data behavior before modeling, including types, missingness, distributions, and relationships among variables. This follows Tukey’s framing of EDA as an essential step to avoid hidden data issues driving misleading conclusions.
[Sources]
- https://projecteuclid.org/journals/annals-of-mathematical-statistics/volume-33/issue-1/The-Future-of-Data-Analysis/10.1214/aoms/1177704711.full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Distance-based methods are sensitive to scale and outliers, so we cap extremes and standardize variables using only training information. If missingness were present, principled missing-data methods should be selected based on MAR/MNAR mechanisms rather than ad-hoc deletion.
[Sources]
- https://academic.oup.com/jrsssc/article/28/1/100/6953842
- https://pubmed.ncbi.nlm.nih.gov/12090408/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created at least one new variable and justified it based on common behavior of financial quantities (skewed, heavy-tailed, and trend-driven). Recent research continues to explore nonlinear transformations of financial ratios to improve bankruptcy modeling.
[Sources]
- https://www.sciencedirect.com/science/article/pii/S0377221725005612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train/test split is essential for any predictive claim, including when we map unsupervised clusters to labels. Using training-only statistics for preprocessing avoids information leakage that would inflate reported performance.
[Sources]
- https://www.sciencedirect.com/science/article/pii/S0957417417307224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K-means partitions observations by minimizing within-cluster squared Euclidean distances, and it is sensitive to initialization, so multiple starts are standard practice. We keep k fixed at 2 to align clusters with the two business states, then interpret clusters by their feature profiles.
[Sources]
- https://academic.oup.com/jrsssc/article/28/1/100/6953842
- https://www.jstor.org/stable/2346830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high-dimensional clusters are hard to understand directly, we summarize clusters using centroid profiles and visualize them in reduced dimensions (PCA). Cluster validity and interpretability are commonly checked using tools like silhouette widths and stability analyses.
[Sources]
- https://www.sciencedirect.com/science/article/pii/0377042787901257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 clusters by mapping them to labels using training data, then computing standard classification metrics on the withheld test set. The class imbalance makes precision and recall particularly important, because a model can achieve high accuracy by predicting only the majority class.
[Sources]
- https://www.sciencedirect.com/science/article/pii/S0167865509002323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value of unsupervised clustering here is exploratory: it shows structure and can flag unusual firm profiles without using labels. The bankruptcy prediction literature consistently finds that model choice, feature construction, and imbalance handling drive performance.
[Sources]
- https://www.sciencedirect.com/science/article/pii/S0957417417307224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limitations are consistent with well-known clustering challenges: sensitivity to scaling, distributional shape, and the fact that clusters do not necessarily correspond to real-world labels. This motivates evaluating alternative clustering families and supervised baselines for decision use.
[Sources]
- https://www.sciencedirect.com/science/article/pii/S0167865509002323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follows directly from known results in bankruptcy modeling (classic ratio-based models plus modern reviews) and clustering validation practice. The core course takeaway is that correct preprocessing, leakage prevention, and transparent reporting often matter as much as the modeling algorithm itself.
[Sources]
- https://www.sciencedirect.com/science/article/pii/S0957417417307224
- https://www.sciencedirect.com/science/article/pii/0377042787901257
- https://pubmed.ncbi.nlm.nih.gov/12090408/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011680"/>
            <a:ext cx="10972800" cy="731520"/>
          </a:xfrm>
          <a:prstGeom prst="rect">
            <a:avLst/>
          </a:prstGeom>
          <a:noFill/>
          <a:ln/>
        </p:spPr>
        <p:txBody>
          <a:bodyPr wrap="square" rtlCol="0" anchor="ctr"/>
          <a:lstStyle/>
          <a:p>
            <a:pPr indent="0" marL="0">
              <a:buNone/>
            </a:pPr>
            <a:r>
              <a:rPr lang="en-US" sz="4200" b="1" dirty="0">
                <a:solidFill>
                  <a:srgbClr val="2B2B2B"/>
                </a:solidFill>
                <a:latin typeface="Calibri" pitchFamily="34" charset="0"/>
                <a:ea typeface="Calibri" pitchFamily="34" charset="-122"/>
                <a:cs typeface="Calibri" pitchFamily="34" charset="-120"/>
              </a:rPr>
              <a:t>Bankruptcy EDA + K-Means Clustering</a:t>
            </a:r>
            <a:endParaRPr lang="en-US" sz="4200" dirty="0"/>
          </a:p>
        </p:txBody>
      </p:sp>
      <p:sp>
        <p:nvSpPr>
          <p:cNvPr id="3" name="Text 1"/>
          <p:cNvSpPr/>
          <p:nvPr/>
        </p:nvSpPr>
        <p:spPr>
          <a:xfrm>
            <a:off x="731520" y="2834640"/>
            <a:ext cx="10972800" cy="457200"/>
          </a:xfrm>
          <a:prstGeom prst="rect">
            <a:avLst/>
          </a:prstGeom>
          <a:noFill/>
          <a:ln/>
        </p:spPr>
        <p:txBody>
          <a:bodyPr wrap="square" rtlCol="0" anchor="ctr"/>
          <a:lstStyle/>
          <a:p>
            <a:pPr indent="0" marL="0">
              <a:buNone/>
            </a:pPr>
            <a:r>
              <a:rPr lang="en-US" sz="1800" dirty="0">
                <a:solidFill>
                  <a:srgbClr val="6B7280"/>
                </a:solidFill>
                <a:latin typeface="Calibri" pitchFamily="34" charset="0"/>
                <a:ea typeface="Calibri" pitchFamily="34" charset="-122"/>
                <a:cs typeface="Calibri" pitchFamily="34" charset="-120"/>
              </a:rPr>
              <a:t>Signature Assignment (Lesson 8) — Part B: Presentation</a:t>
            </a:r>
            <a:endParaRPr lang="en-US" sz="1800" dirty="0"/>
          </a:p>
        </p:txBody>
      </p:sp>
      <p:sp>
        <p:nvSpPr>
          <p:cNvPr id="4" name="Shape 2"/>
          <p:cNvSpPr/>
          <p:nvPr/>
        </p:nvSpPr>
        <p:spPr>
          <a:xfrm>
            <a:off x="731520" y="3657600"/>
            <a:ext cx="10972800" cy="2011680"/>
          </a:xfrm>
          <a:prstGeom prst="roundRect">
            <a:avLst/>
          </a:prstGeom>
          <a:solidFill>
            <a:srgbClr val="F8FAFC"/>
          </a:solidFill>
          <a:ln w="12700">
            <a:solidFill>
              <a:srgbClr val="E5E7EB"/>
            </a:solidFill>
            <a:prstDash val="solid"/>
          </a:ln>
        </p:spPr>
      </p:sp>
      <p:sp>
        <p:nvSpPr>
          <p:cNvPr id="5" name="Text 3"/>
          <p:cNvSpPr/>
          <p:nvPr/>
        </p:nvSpPr>
        <p:spPr>
          <a:xfrm>
            <a:off x="1097280" y="3840480"/>
            <a:ext cx="1828800" cy="274320"/>
          </a:xfrm>
          <a:prstGeom prst="rect">
            <a:avLst/>
          </a:prstGeom>
          <a:noFill/>
          <a:ln/>
        </p:spPr>
        <p:txBody>
          <a:bodyPr wrap="square"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Goal</a:t>
            </a:r>
            <a:endParaRPr lang="en-US" sz="1400" dirty="0"/>
          </a:p>
        </p:txBody>
      </p:sp>
      <p:sp>
        <p:nvSpPr>
          <p:cNvPr id="6" name="Text 4"/>
          <p:cNvSpPr/>
          <p:nvPr/>
        </p:nvSpPr>
        <p:spPr>
          <a:xfrm>
            <a:off x="1097280" y="4160520"/>
            <a:ext cx="10241280" cy="731520"/>
          </a:xfrm>
          <a:prstGeom prst="rect">
            <a:avLst/>
          </a:prstGeom>
          <a:noFill/>
          <a:ln/>
        </p:spPr>
        <p:txBody>
          <a:bodyPr wrap="square" rtlCol="0" anchor="ctr"/>
          <a:lstStyle/>
          <a:p>
            <a:pPr indent="0" marL="0">
              <a:buNone/>
            </a:pPr>
            <a:r>
              <a:rPr lang="en-US" sz="1600" dirty="0">
                <a:solidFill>
                  <a:srgbClr val="2B2B2B"/>
                </a:solidFill>
                <a:latin typeface="Calibri" pitchFamily="34" charset="0"/>
                <a:ea typeface="Calibri" pitchFamily="34" charset="-122"/>
                <a:cs typeface="Calibri" pitchFamily="34" charset="-120"/>
              </a:rPr>
              <a:t>Clean the data end-to-end and evaluate whether a 2-cluster k-means model can separate firms that failed from firms that remained alive.</a:t>
            </a:r>
            <a:endParaRPr lang="en-US" sz="1600" dirty="0"/>
          </a:p>
        </p:txBody>
      </p:sp>
      <p:sp>
        <p:nvSpPr>
          <p:cNvPr id="7" name="Shape 5"/>
          <p:cNvSpPr/>
          <p:nvPr/>
        </p:nvSpPr>
        <p:spPr>
          <a:xfrm>
            <a:off x="640080" y="6446520"/>
            <a:ext cx="10972800" cy="0"/>
          </a:xfrm>
          <a:prstGeom prst="line">
            <a:avLst/>
          </a:prstGeom>
          <a:noFill/>
          <a:ln w="12700">
            <a:solidFill>
              <a:srgbClr val="E5E7EB"/>
            </a:solidFill>
            <a:prstDash val="solid"/>
          </a:ln>
        </p:spPr>
      </p:sp>
      <p:sp>
        <p:nvSpPr>
          <p:cNvPr id="8" name="Text 6"/>
          <p:cNvSpPr/>
          <p:nvPr/>
        </p:nvSpPr>
        <p:spPr>
          <a:xfrm>
            <a:off x="640080" y="6510528"/>
            <a:ext cx="86868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Assignment 8 — Bankruptcy EDA &amp; Clustering</a:t>
            </a:r>
            <a:endParaRPr lang="en-US" sz="1000" dirty="0"/>
          </a:p>
        </p:txBody>
      </p:sp>
      <p:sp>
        <p:nvSpPr>
          <p:cNvPr id="9" name="Text 7"/>
          <p:cNvSpPr/>
          <p:nvPr/>
        </p:nvSpPr>
        <p:spPr>
          <a:xfrm>
            <a:off x="9692640" y="6510528"/>
            <a:ext cx="19202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k-means (k=2)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502920"/>
            <a:ext cx="10972800" cy="548640"/>
          </a:xfrm>
          <a:prstGeom prst="rect">
            <a:avLst/>
          </a:prstGeom>
          <a:noFill/>
          <a:ln/>
        </p:spPr>
        <p:txBody>
          <a:bodyPr wrap="square" rtlCol="0" anchor="ctr"/>
          <a:lstStyle/>
          <a:p>
            <a:pPr indent="0" marL="0">
              <a:buNone/>
            </a:pPr>
            <a:r>
              <a:rPr lang="en-US" sz="3400" b="1" dirty="0">
                <a:solidFill>
                  <a:srgbClr val="2B2B2B"/>
                </a:solidFill>
                <a:latin typeface="Calibri" pitchFamily="34" charset="0"/>
                <a:ea typeface="Calibri" pitchFamily="34" charset="-122"/>
                <a:cs typeface="Calibri" pitchFamily="34" charset="-120"/>
              </a:rPr>
              <a:t>Dataset Overview</a:t>
            </a:r>
            <a:endParaRPr lang="en-US" sz="3400" dirty="0"/>
          </a:p>
        </p:txBody>
      </p:sp>
      <p:sp>
        <p:nvSpPr>
          <p:cNvPr id="3" name="Text 1"/>
          <p:cNvSpPr/>
          <p:nvPr/>
        </p:nvSpPr>
        <p:spPr>
          <a:xfrm>
            <a:off x="640080" y="1051560"/>
            <a:ext cx="10972800" cy="45720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What we modeled and why leakage matters</a:t>
            </a:r>
            <a:endParaRPr lang="en-US" sz="1600" dirty="0"/>
          </a:p>
        </p:txBody>
      </p:sp>
      <p:sp>
        <p:nvSpPr>
          <p:cNvPr id="4" name="Shape 2"/>
          <p:cNvSpPr/>
          <p:nvPr/>
        </p:nvSpPr>
        <p:spPr>
          <a:xfrm>
            <a:off x="640080" y="1554480"/>
            <a:ext cx="10972800" cy="0"/>
          </a:xfrm>
          <a:prstGeom prst="line">
            <a:avLst/>
          </a:prstGeom>
          <a:noFill/>
          <a:ln w="12700">
            <a:solidFill>
              <a:srgbClr val="E5E7EB"/>
            </a:solidFill>
            <a:prstDash val="solid"/>
          </a:ln>
        </p:spPr>
      </p:sp>
      <p:sp>
        <p:nvSpPr>
          <p:cNvPr id="5" name="Shape 3"/>
          <p:cNvSpPr/>
          <p:nvPr/>
        </p:nvSpPr>
        <p:spPr>
          <a:xfrm>
            <a:off x="640080" y="1828800"/>
            <a:ext cx="5577840" cy="2011680"/>
          </a:xfrm>
          <a:prstGeom prst="roundRect">
            <a:avLst/>
          </a:prstGeom>
          <a:solidFill>
            <a:srgbClr val="F8FAFC"/>
          </a:solidFill>
          <a:ln w="12700">
            <a:solidFill>
              <a:srgbClr val="E5E7EB"/>
            </a:solidFill>
            <a:prstDash val="solid"/>
          </a:ln>
        </p:spPr>
      </p:sp>
      <p:sp>
        <p:nvSpPr>
          <p:cNvPr id="6" name="Text 4"/>
          <p:cNvSpPr/>
          <p:nvPr/>
        </p:nvSpPr>
        <p:spPr>
          <a:xfrm>
            <a:off x="960120" y="2057400"/>
            <a:ext cx="4937760" cy="320040"/>
          </a:xfrm>
          <a:prstGeom prst="rect">
            <a:avLst/>
          </a:prstGeom>
          <a:noFill/>
          <a:ln/>
        </p:spPr>
        <p:txBody>
          <a:bodyPr wrap="square"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Unit of analysis</a:t>
            </a:r>
            <a:endParaRPr lang="en-US" sz="1400" dirty="0"/>
          </a:p>
        </p:txBody>
      </p:sp>
      <p:sp>
        <p:nvSpPr>
          <p:cNvPr id="7" name="Text 5"/>
          <p:cNvSpPr/>
          <p:nvPr/>
        </p:nvSpPr>
        <p:spPr>
          <a:xfrm>
            <a:off x="960120" y="2423160"/>
            <a:ext cx="4937760" cy="1234440"/>
          </a:xfrm>
          <a:prstGeom prst="rect">
            <a:avLst/>
          </a:prstGeom>
          <a:noFill/>
          <a:ln/>
        </p:spPr>
        <p:txBody>
          <a:bodyPr wrap="square" rtlCol="0" anchor="t"/>
          <a:lstStyle/>
          <a:p>
            <a:pPr indent="0" marL="0">
              <a:buNone/>
            </a:pPr>
            <a:r>
              <a:rPr lang="en-US" sz="1200" dirty="0">
                <a:solidFill>
                  <a:srgbClr val="2B2B2B"/>
                </a:solidFill>
                <a:latin typeface="Calibri" pitchFamily="34" charset="0"/>
                <a:ea typeface="Calibri" pitchFamily="34" charset="-122"/>
                <a:cs typeface="Calibri" pitchFamily="34" charset="-120"/>
              </a:rPr>
              <a:t>Raw data are firm-year observations.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To predict company status, we also build a</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company-level table (most recent year per firm).</a:t>
            </a:r>
            <a:endParaRPr lang="en-US" sz="1200" dirty="0"/>
          </a:p>
        </p:txBody>
      </p:sp>
      <p:sp>
        <p:nvSpPr>
          <p:cNvPr id="8" name="Shape 6"/>
          <p:cNvSpPr/>
          <p:nvPr/>
        </p:nvSpPr>
        <p:spPr>
          <a:xfrm>
            <a:off x="6400800" y="1828800"/>
            <a:ext cx="5212080" cy="2011680"/>
          </a:xfrm>
          <a:prstGeom prst="roundRect">
            <a:avLst/>
          </a:prstGeom>
          <a:solidFill>
            <a:srgbClr val="F8FAFC"/>
          </a:solidFill>
          <a:ln w="12700">
            <a:solidFill>
              <a:srgbClr val="E5E7EB"/>
            </a:solidFill>
            <a:prstDash val="solid"/>
          </a:ln>
        </p:spPr>
      </p:sp>
      <p:sp>
        <p:nvSpPr>
          <p:cNvPr id="9" name="Text 7"/>
          <p:cNvSpPr/>
          <p:nvPr/>
        </p:nvSpPr>
        <p:spPr>
          <a:xfrm>
            <a:off x="6720840" y="2057400"/>
            <a:ext cx="4572000" cy="320040"/>
          </a:xfrm>
          <a:prstGeom prst="rect">
            <a:avLst/>
          </a:prstGeom>
          <a:noFill/>
          <a:ln/>
        </p:spPr>
        <p:txBody>
          <a:bodyPr wrap="square"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Target label</a:t>
            </a:r>
            <a:endParaRPr lang="en-US" sz="1400" dirty="0"/>
          </a:p>
        </p:txBody>
      </p:sp>
      <p:sp>
        <p:nvSpPr>
          <p:cNvPr id="10" name="Text 8"/>
          <p:cNvSpPr/>
          <p:nvPr/>
        </p:nvSpPr>
        <p:spPr>
          <a:xfrm>
            <a:off x="6720840" y="2423160"/>
            <a:ext cx="4572000" cy="1234440"/>
          </a:xfrm>
          <a:prstGeom prst="rect">
            <a:avLst/>
          </a:prstGeom>
          <a:noFill/>
          <a:ln/>
        </p:spPr>
        <p:txBody>
          <a:bodyPr wrap="square" rtlCol="0" anchor="t"/>
          <a:lstStyle/>
          <a:p>
            <a:pPr indent="0" marL="0">
              <a:buNone/>
            </a:pPr>
            <a:r>
              <a:rPr lang="en-US" sz="1200" dirty="0">
                <a:solidFill>
                  <a:srgbClr val="2B2B2B"/>
                </a:solidFill>
                <a:latin typeface="Calibri" pitchFamily="34" charset="0"/>
                <a:ea typeface="Calibri" pitchFamily="34" charset="-122"/>
                <a:cs typeface="Calibri" pitchFamily="34" charset="-120"/>
              </a:rPr>
              <a:t>status_label ∈ {alive, failed}</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Bankruptcy is rare → strong class imbalance.</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We keep stratification in train/test split.</a:t>
            </a:r>
            <a:endParaRPr lang="en-US" sz="1200" dirty="0"/>
          </a:p>
        </p:txBody>
      </p:sp>
      <p:graphicFrame>
        <p:nvGraphicFramePr>
          <p:cNvPr id="11" name="Chart 0" descr=""/>
          <p:cNvGraphicFramePr/>
          <p:nvPr/>
        </p:nvGraphicFramePr>
        <p:xfrm>
          <a:off x="640080" y="4160520"/>
          <a:ext cx="5577840" cy="201168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6400800" y="4160520"/>
            <a:ext cx="5212080" cy="2011680"/>
          </a:xfrm>
          <a:prstGeom prst="roundRect">
            <a:avLst/>
          </a:prstGeom>
          <a:solidFill>
            <a:srgbClr val="F8FAFC"/>
          </a:solidFill>
          <a:ln w="12700">
            <a:solidFill>
              <a:srgbClr val="E5E7EB"/>
            </a:solidFill>
            <a:prstDash val="solid"/>
          </a:ln>
        </p:spPr>
      </p:sp>
      <p:sp>
        <p:nvSpPr>
          <p:cNvPr id="13" name="Text 10"/>
          <p:cNvSpPr/>
          <p:nvPr/>
        </p:nvSpPr>
        <p:spPr>
          <a:xfrm>
            <a:off x="6720840" y="4389120"/>
            <a:ext cx="4572000" cy="320040"/>
          </a:xfrm>
          <a:prstGeom prst="rect">
            <a:avLst/>
          </a:prstGeom>
          <a:noFill/>
          <a:ln/>
        </p:spPr>
        <p:txBody>
          <a:bodyPr wrap="square"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Key fields</a:t>
            </a:r>
            <a:endParaRPr lang="en-US" sz="1400" dirty="0"/>
          </a:p>
        </p:txBody>
      </p:sp>
      <p:sp>
        <p:nvSpPr>
          <p:cNvPr id="14" name="Text 11"/>
          <p:cNvSpPr/>
          <p:nvPr/>
        </p:nvSpPr>
        <p:spPr>
          <a:xfrm>
            <a:off x="6720840" y="4754880"/>
            <a:ext cx="4572000" cy="1234440"/>
          </a:xfrm>
          <a:prstGeom prst="rect">
            <a:avLst/>
          </a:prstGeom>
          <a:noFill/>
          <a:ln/>
        </p:spPr>
        <p:txBody>
          <a:bodyPr wrap="square" rtlCol="0" anchor="t"/>
          <a:lstStyle/>
          <a:p>
            <a:pPr indent="0" marL="0">
              <a:buNone/>
            </a:pPr>
            <a:r>
              <a:rPr lang="en-US" sz="1200" dirty="0">
                <a:solidFill>
                  <a:srgbClr val="2B2B2B"/>
                </a:solidFill>
                <a:latin typeface="Calibri" pitchFamily="34" charset="0"/>
                <a:ea typeface="Calibri" pitchFamily="34" charset="-122"/>
                <a:cs typeface="Calibri" pitchFamily="34" charset="-120"/>
              </a:rPr>
              <a:t>company_name (ID)</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year (time index)</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X1–X18 (numeric financial features)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Feature engineering adds log-size &amp; trend variables.</a:t>
            </a:r>
            <a:endParaRPr lang="en-US" sz="1200" dirty="0"/>
          </a:p>
        </p:txBody>
      </p:sp>
      <p:sp>
        <p:nvSpPr>
          <p:cNvPr id="15" name="Shape 12"/>
          <p:cNvSpPr/>
          <p:nvPr/>
        </p:nvSpPr>
        <p:spPr>
          <a:xfrm>
            <a:off x="640080" y="6446520"/>
            <a:ext cx="10972800" cy="0"/>
          </a:xfrm>
          <a:prstGeom prst="line">
            <a:avLst/>
          </a:prstGeom>
          <a:noFill/>
          <a:ln w="12700">
            <a:solidFill>
              <a:srgbClr val="E5E7EB"/>
            </a:solidFill>
            <a:prstDash val="solid"/>
          </a:ln>
        </p:spPr>
      </p:sp>
      <p:sp>
        <p:nvSpPr>
          <p:cNvPr id="16" name="Text 13"/>
          <p:cNvSpPr/>
          <p:nvPr/>
        </p:nvSpPr>
        <p:spPr>
          <a:xfrm>
            <a:off x="640080" y="6510528"/>
            <a:ext cx="86868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Assignment 8 — Bankruptcy EDA &amp; Clustering</a:t>
            </a:r>
            <a:endParaRPr lang="en-US" sz="1000" dirty="0"/>
          </a:p>
        </p:txBody>
      </p:sp>
      <p:sp>
        <p:nvSpPr>
          <p:cNvPr id="17" name="Text 14"/>
          <p:cNvSpPr/>
          <p:nvPr/>
        </p:nvSpPr>
        <p:spPr>
          <a:xfrm>
            <a:off x="9692640" y="6510528"/>
            <a:ext cx="19202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k-means (k=2)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502920"/>
            <a:ext cx="10972800" cy="548640"/>
          </a:xfrm>
          <a:prstGeom prst="rect">
            <a:avLst/>
          </a:prstGeom>
          <a:noFill/>
          <a:ln/>
        </p:spPr>
        <p:txBody>
          <a:bodyPr wrap="square" rtlCol="0" anchor="ctr"/>
          <a:lstStyle/>
          <a:p>
            <a:pPr indent="0" marL="0">
              <a:buNone/>
            </a:pPr>
            <a:r>
              <a:rPr lang="en-US" sz="3400" b="1" dirty="0">
                <a:solidFill>
                  <a:srgbClr val="2B2B2B"/>
                </a:solidFill>
                <a:latin typeface="Calibri" pitchFamily="34" charset="0"/>
                <a:ea typeface="Calibri" pitchFamily="34" charset="-122"/>
                <a:cs typeface="Calibri" pitchFamily="34" charset="-120"/>
              </a:rPr>
              <a:t>EDA Checklist</a:t>
            </a:r>
            <a:endParaRPr lang="en-US" sz="3400" dirty="0"/>
          </a:p>
        </p:txBody>
      </p:sp>
      <p:sp>
        <p:nvSpPr>
          <p:cNvPr id="3" name="Text 1"/>
          <p:cNvSpPr/>
          <p:nvPr/>
        </p:nvSpPr>
        <p:spPr>
          <a:xfrm>
            <a:off x="640080" y="1051560"/>
            <a:ext cx="10972800" cy="45720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What we verified before modeling</a:t>
            </a:r>
            <a:endParaRPr lang="en-US" sz="1600" dirty="0"/>
          </a:p>
        </p:txBody>
      </p:sp>
      <p:sp>
        <p:nvSpPr>
          <p:cNvPr id="4" name="Shape 2"/>
          <p:cNvSpPr/>
          <p:nvPr/>
        </p:nvSpPr>
        <p:spPr>
          <a:xfrm>
            <a:off x="640080" y="1554480"/>
            <a:ext cx="10972800" cy="0"/>
          </a:xfrm>
          <a:prstGeom prst="line">
            <a:avLst/>
          </a:prstGeom>
          <a:noFill/>
          <a:ln w="12700">
            <a:solidFill>
              <a:srgbClr val="E5E7EB"/>
            </a:solidFill>
            <a:prstDash val="solid"/>
          </a:ln>
        </p:spPr>
      </p:sp>
      <p:sp>
        <p:nvSpPr>
          <p:cNvPr id="5" name="Shape 3"/>
          <p:cNvSpPr/>
          <p:nvPr/>
        </p:nvSpPr>
        <p:spPr>
          <a:xfrm>
            <a:off x="640080" y="1828800"/>
            <a:ext cx="10972800" cy="4297680"/>
          </a:xfrm>
          <a:prstGeom prst="roundRect">
            <a:avLst/>
          </a:prstGeom>
          <a:solidFill>
            <a:srgbClr val="F8FAFC"/>
          </a:solidFill>
          <a:ln w="12700">
            <a:solidFill>
              <a:srgbClr val="E5E7EB"/>
            </a:solidFill>
            <a:prstDash val="solid"/>
          </a:ln>
        </p:spPr>
      </p:sp>
      <p:sp>
        <p:nvSpPr>
          <p:cNvPr id="6" name="Text 4"/>
          <p:cNvSpPr/>
          <p:nvPr/>
        </p:nvSpPr>
        <p:spPr>
          <a:xfrm>
            <a:off x="960120" y="2057400"/>
            <a:ext cx="10332720" cy="320040"/>
          </a:xfrm>
          <a:prstGeom prst="rect">
            <a:avLst/>
          </a:prstGeom>
          <a:noFill/>
          <a:ln/>
        </p:spPr>
        <p:txBody>
          <a:bodyPr wrap="square"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Core EDA steps completed</a:t>
            </a:r>
            <a:endParaRPr lang="en-US" sz="1400" dirty="0"/>
          </a:p>
        </p:txBody>
      </p:sp>
      <p:sp>
        <p:nvSpPr>
          <p:cNvPr id="7" name="Text 5"/>
          <p:cNvSpPr/>
          <p:nvPr/>
        </p:nvSpPr>
        <p:spPr>
          <a:xfrm>
            <a:off x="960120" y="2423160"/>
            <a:ext cx="10332720" cy="3520440"/>
          </a:xfrm>
          <a:prstGeom prst="rect">
            <a:avLst/>
          </a:prstGeom>
          <a:noFill/>
          <a:ln/>
        </p:spPr>
        <p:txBody>
          <a:bodyPr wrap="square" rtlCol="0" anchor="t"/>
          <a:lstStyle/>
          <a:p>
            <a:pPr indent="0" marL="0">
              <a:buNone/>
            </a:pPr>
            <a:r>
              <a:rPr lang="en-US" sz="1200" dirty="0">
                <a:solidFill>
                  <a:srgbClr val="2B2B2B"/>
                </a:solidFill>
                <a:latin typeface="Calibri" pitchFamily="34" charset="0"/>
                <a:ea typeface="Calibri" pitchFamily="34" charset="-122"/>
                <a:cs typeface="Calibri" pitchFamily="34" charset="-120"/>
              </a:rPr>
              <a:t>1) Variable types: identifiers vs. labels vs. numeric predictors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2) Data structure: row/column counts; class imbalance; duplicates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3) Missingness: documented and visualized (missmap + table)</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4) Outliers/anomalies: boxplots, extreme quantiles, sanity checks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5) Univariate plots: histograms/boxplots for representative features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6) Multivariate analysis: correlations + PCA visualization</a:t>
            </a:r>
            <a:endParaRPr lang="en-US" sz="1200" dirty="0"/>
          </a:p>
        </p:txBody>
      </p:sp>
      <p:sp>
        <p:nvSpPr>
          <p:cNvPr id="8" name="Shape 6"/>
          <p:cNvSpPr/>
          <p:nvPr/>
        </p:nvSpPr>
        <p:spPr>
          <a:xfrm>
            <a:off x="640080" y="6446520"/>
            <a:ext cx="10972800" cy="0"/>
          </a:xfrm>
          <a:prstGeom prst="line">
            <a:avLst/>
          </a:prstGeom>
          <a:noFill/>
          <a:ln w="12700">
            <a:solidFill>
              <a:srgbClr val="E5E7EB"/>
            </a:solidFill>
            <a:prstDash val="solid"/>
          </a:ln>
        </p:spPr>
      </p:sp>
      <p:sp>
        <p:nvSpPr>
          <p:cNvPr id="9" name="Text 7"/>
          <p:cNvSpPr/>
          <p:nvPr/>
        </p:nvSpPr>
        <p:spPr>
          <a:xfrm>
            <a:off x="640080" y="6510528"/>
            <a:ext cx="86868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Assignment 8 — Bankruptcy EDA &amp; Clustering</a:t>
            </a:r>
            <a:endParaRPr lang="en-US" sz="1000" dirty="0"/>
          </a:p>
        </p:txBody>
      </p:sp>
      <p:sp>
        <p:nvSpPr>
          <p:cNvPr id="10" name="Text 8"/>
          <p:cNvSpPr/>
          <p:nvPr/>
        </p:nvSpPr>
        <p:spPr>
          <a:xfrm>
            <a:off x="9692640" y="6510528"/>
            <a:ext cx="19202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k-means (k=2)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502920"/>
            <a:ext cx="10972800" cy="548640"/>
          </a:xfrm>
          <a:prstGeom prst="rect">
            <a:avLst/>
          </a:prstGeom>
          <a:noFill/>
          <a:ln/>
        </p:spPr>
        <p:txBody>
          <a:bodyPr wrap="square" rtlCol="0" anchor="ctr"/>
          <a:lstStyle/>
          <a:p>
            <a:pPr indent="0" marL="0">
              <a:buNone/>
            </a:pPr>
            <a:r>
              <a:rPr lang="en-US" sz="3400" b="1" dirty="0">
                <a:solidFill>
                  <a:srgbClr val="2B2B2B"/>
                </a:solidFill>
                <a:latin typeface="Calibri" pitchFamily="34" charset="0"/>
                <a:ea typeface="Calibri" pitchFamily="34" charset="-122"/>
                <a:cs typeface="Calibri" pitchFamily="34" charset="-120"/>
              </a:rPr>
              <a:t>Preprocessing Decisions</a:t>
            </a:r>
            <a:endParaRPr lang="en-US" sz="3400" dirty="0"/>
          </a:p>
        </p:txBody>
      </p:sp>
      <p:sp>
        <p:nvSpPr>
          <p:cNvPr id="3" name="Text 1"/>
          <p:cNvSpPr/>
          <p:nvPr/>
        </p:nvSpPr>
        <p:spPr>
          <a:xfrm>
            <a:off x="640080" y="1051560"/>
            <a:ext cx="10972800" cy="45720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How we handled outliers and scale</a:t>
            </a:r>
            <a:endParaRPr lang="en-US" sz="1600" dirty="0"/>
          </a:p>
        </p:txBody>
      </p:sp>
      <p:sp>
        <p:nvSpPr>
          <p:cNvPr id="4" name="Shape 2"/>
          <p:cNvSpPr/>
          <p:nvPr/>
        </p:nvSpPr>
        <p:spPr>
          <a:xfrm>
            <a:off x="640080" y="1554480"/>
            <a:ext cx="10972800" cy="0"/>
          </a:xfrm>
          <a:prstGeom prst="line">
            <a:avLst/>
          </a:prstGeom>
          <a:noFill/>
          <a:ln w="12700">
            <a:solidFill>
              <a:srgbClr val="E5E7EB"/>
            </a:solidFill>
            <a:prstDash val="solid"/>
          </a:ln>
        </p:spPr>
      </p:sp>
      <p:sp>
        <p:nvSpPr>
          <p:cNvPr id="5" name="Shape 3"/>
          <p:cNvSpPr/>
          <p:nvPr/>
        </p:nvSpPr>
        <p:spPr>
          <a:xfrm>
            <a:off x="640080" y="1828800"/>
            <a:ext cx="5394960" cy="4297680"/>
          </a:xfrm>
          <a:prstGeom prst="roundRect">
            <a:avLst/>
          </a:prstGeom>
          <a:solidFill>
            <a:srgbClr val="F8FAFC"/>
          </a:solidFill>
          <a:ln w="12700">
            <a:solidFill>
              <a:srgbClr val="E5E7EB"/>
            </a:solidFill>
            <a:prstDash val="solid"/>
          </a:ln>
        </p:spPr>
      </p:sp>
      <p:sp>
        <p:nvSpPr>
          <p:cNvPr id="6" name="Text 4"/>
          <p:cNvSpPr/>
          <p:nvPr/>
        </p:nvSpPr>
        <p:spPr>
          <a:xfrm>
            <a:off x="960120" y="2057400"/>
            <a:ext cx="4754880" cy="320040"/>
          </a:xfrm>
          <a:prstGeom prst="rect">
            <a:avLst/>
          </a:prstGeom>
          <a:noFill/>
          <a:ln/>
        </p:spPr>
        <p:txBody>
          <a:bodyPr wrap="square"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Why preprocessing matters</a:t>
            </a:r>
            <a:endParaRPr lang="en-US" sz="1400" dirty="0"/>
          </a:p>
        </p:txBody>
      </p:sp>
      <p:sp>
        <p:nvSpPr>
          <p:cNvPr id="7" name="Text 5"/>
          <p:cNvSpPr/>
          <p:nvPr/>
        </p:nvSpPr>
        <p:spPr>
          <a:xfrm>
            <a:off x="960120" y="2423160"/>
            <a:ext cx="4754880" cy="3520440"/>
          </a:xfrm>
          <a:prstGeom prst="rect">
            <a:avLst/>
          </a:prstGeom>
          <a:noFill/>
          <a:ln/>
        </p:spPr>
        <p:txBody>
          <a:bodyPr wrap="square" rtlCol="0" anchor="t"/>
          <a:lstStyle/>
          <a:p>
            <a:pPr indent="0" marL="0">
              <a:buNone/>
            </a:pPr>
            <a:r>
              <a:rPr lang="en-US" sz="1200" dirty="0">
                <a:solidFill>
                  <a:srgbClr val="2B2B2B"/>
                </a:solidFill>
                <a:latin typeface="Calibri" pitchFamily="34" charset="0"/>
                <a:ea typeface="Calibri" pitchFamily="34" charset="-122"/>
                <a:cs typeface="Calibri" pitchFamily="34" charset="-120"/>
              </a:rPr>
              <a:t>K-means uses Euclidean distance.</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Skew and extreme outliers can dominate distance.</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Mixed scales can cause unstable centroids.</a:t>
            </a:r>
            <a:endParaRPr lang="en-US" sz="1200" dirty="0"/>
          </a:p>
        </p:txBody>
      </p:sp>
      <p:sp>
        <p:nvSpPr>
          <p:cNvPr id="8" name="Shape 6"/>
          <p:cNvSpPr/>
          <p:nvPr/>
        </p:nvSpPr>
        <p:spPr>
          <a:xfrm>
            <a:off x="6217920" y="1828800"/>
            <a:ext cx="5394960" cy="4297680"/>
          </a:xfrm>
          <a:prstGeom prst="roundRect">
            <a:avLst/>
          </a:prstGeom>
          <a:solidFill>
            <a:srgbClr val="F8FAFC"/>
          </a:solidFill>
          <a:ln w="12700">
            <a:solidFill>
              <a:srgbClr val="E5E7EB"/>
            </a:solidFill>
            <a:prstDash val="solid"/>
          </a:ln>
        </p:spPr>
      </p:sp>
      <p:sp>
        <p:nvSpPr>
          <p:cNvPr id="9" name="Text 7"/>
          <p:cNvSpPr/>
          <p:nvPr/>
        </p:nvSpPr>
        <p:spPr>
          <a:xfrm>
            <a:off x="6537960" y="2057400"/>
            <a:ext cx="4754880" cy="320040"/>
          </a:xfrm>
          <a:prstGeom prst="rect">
            <a:avLst/>
          </a:prstGeom>
          <a:noFill/>
          <a:ln/>
        </p:spPr>
        <p:txBody>
          <a:bodyPr wrap="square"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What we did</a:t>
            </a:r>
            <a:endParaRPr lang="en-US" sz="1400" dirty="0"/>
          </a:p>
        </p:txBody>
      </p:sp>
      <p:sp>
        <p:nvSpPr>
          <p:cNvPr id="10" name="Text 8"/>
          <p:cNvSpPr/>
          <p:nvPr/>
        </p:nvSpPr>
        <p:spPr>
          <a:xfrm>
            <a:off x="6537960" y="2423160"/>
            <a:ext cx="4754880" cy="3520440"/>
          </a:xfrm>
          <a:prstGeom prst="rect">
            <a:avLst/>
          </a:prstGeom>
          <a:noFill/>
          <a:ln/>
        </p:spPr>
        <p:txBody>
          <a:bodyPr wrap="square" rtlCol="0" anchor="t"/>
          <a:lstStyle/>
          <a:p>
            <a:pPr indent="0" marL="0">
              <a:buNone/>
            </a:pPr>
            <a:r>
              <a:rPr lang="en-US" sz="1200" dirty="0">
                <a:solidFill>
                  <a:srgbClr val="2B2B2B"/>
                </a:solidFill>
                <a:latin typeface="Calibri" pitchFamily="34" charset="0"/>
                <a:ea typeface="Calibri" pitchFamily="34" charset="-122"/>
                <a:cs typeface="Calibri" pitchFamily="34" charset="-120"/>
              </a:rPr>
              <a:t>• Winsorize numeric features using training-only caps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(e.g., 1st/99th percentiles) to reduce extreme leverage.</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Standardize numeric predictors (z-scores) using training stats.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Apply the same caps and scaling to the test set (no leakage).</a:t>
            </a:r>
            <a:endParaRPr lang="en-US" sz="1200" dirty="0"/>
          </a:p>
        </p:txBody>
      </p:sp>
      <p:sp>
        <p:nvSpPr>
          <p:cNvPr id="11" name="Shape 9"/>
          <p:cNvSpPr/>
          <p:nvPr/>
        </p:nvSpPr>
        <p:spPr>
          <a:xfrm>
            <a:off x="640080" y="6446520"/>
            <a:ext cx="10972800" cy="0"/>
          </a:xfrm>
          <a:prstGeom prst="line">
            <a:avLst/>
          </a:prstGeom>
          <a:noFill/>
          <a:ln w="12700">
            <a:solidFill>
              <a:srgbClr val="E5E7EB"/>
            </a:solidFill>
            <a:prstDash val="solid"/>
          </a:ln>
        </p:spPr>
      </p:sp>
      <p:sp>
        <p:nvSpPr>
          <p:cNvPr id="12" name="Text 10"/>
          <p:cNvSpPr/>
          <p:nvPr/>
        </p:nvSpPr>
        <p:spPr>
          <a:xfrm>
            <a:off x="640080" y="6510528"/>
            <a:ext cx="86868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Assignment 8 — Bankruptcy EDA &amp; Clustering</a:t>
            </a:r>
            <a:endParaRPr lang="en-US" sz="1000" dirty="0"/>
          </a:p>
        </p:txBody>
      </p:sp>
      <p:sp>
        <p:nvSpPr>
          <p:cNvPr id="13" name="Text 11"/>
          <p:cNvSpPr/>
          <p:nvPr/>
        </p:nvSpPr>
        <p:spPr>
          <a:xfrm>
            <a:off x="9692640" y="6510528"/>
            <a:ext cx="19202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k-means (k=2)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502920"/>
            <a:ext cx="10972800" cy="548640"/>
          </a:xfrm>
          <a:prstGeom prst="rect">
            <a:avLst/>
          </a:prstGeom>
          <a:noFill/>
          <a:ln/>
        </p:spPr>
        <p:txBody>
          <a:bodyPr wrap="square" rtlCol="0" anchor="ctr"/>
          <a:lstStyle/>
          <a:p>
            <a:pPr indent="0" marL="0">
              <a:buNone/>
            </a:pPr>
            <a:r>
              <a:rPr lang="en-US" sz="3400" b="1" dirty="0">
                <a:solidFill>
                  <a:srgbClr val="2B2B2B"/>
                </a:solidFill>
                <a:latin typeface="Calibri" pitchFamily="34" charset="0"/>
                <a:ea typeface="Calibri" pitchFamily="34" charset="-122"/>
                <a:cs typeface="Calibri" pitchFamily="34" charset="-120"/>
              </a:rPr>
              <a:t>Feature Engineering</a:t>
            </a:r>
            <a:endParaRPr lang="en-US" sz="3400" dirty="0"/>
          </a:p>
        </p:txBody>
      </p:sp>
      <p:sp>
        <p:nvSpPr>
          <p:cNvPr id="3" name="Text 1"/>
          <p:cNvSpPr/>
          <p:nvPr/>
        </p:nvSpPr>
        <p:spPr>
          <a:xfrm>
            <a:off x="640080" y="1051560"/>
            <a:ext cx="10972800" cy="45720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New variables added for clustering</a:t>
            </a:r>
            <a:endParaRPr lang="en-US" sz="1600" dirty="0"/>
          </a:p>
        </p:txBody>
      </p:sp>
      <p:sp>
        <p:nvSpPr>
          <p:cNvPr id="4" name="Shape 2"/>
          <p:cNvSpPr/>
          <p:nvPr/>
        </p:nvSpPr>
        <p:spPr>
          <a:xfrm>
            <a:off x="640080" y="1554480"/>
            <a:ext cx="10972800" cy="0"/>
          </a:xfrm>
          <a:prstGeom prst="line">
            <a:avLst/>
          </a:prstGeom>
          <a:noFill/>
          <a:ln w="12700">
            <a:solidFill>
              <a:srgbClr val="E5E7EB"/>
            </a:solidFill>
            <a:prstDash val="solid"/>
          </a:ln>
        </p:spPr>
      </p:sp>
      <p:sp>
        <p:nvSpPr>
          <p:cNvPr id="5" name="Shape 3"/>
          <p:cNvSpPr/>
          <p:nvPr/>
        </p:nvSpPr>
        <p:spPr>
          <a:xfrm>
            <a:off x="640080" y="1828800"/>
            <a:ext cx="10972800" cy="4297680"/>
          </a:xfrm>
          <a:prstGeom prst="roundRect">
            <a:avLst/>
          </a:prstGeom>
          <a:solidFill>
            <a:srgbClr val="F8FAFC"/>
          </a:solidFill>
          <a:ln w="12700">
            <a:solidFill>
              <a:srgbClr val="E5E7EB"/>
            </a:solidFill>
            <a:prstDash val="solid"/>
          </a:ln>
        </p:spPr>
      </p:sp>
      <p:sp>
        <p:nvSpPr>
          <p:cNvPr id="6" name="Text 4"/>
          <p:cNvSpPr/>
          <p:nvPr/>
        </p:nvSpPr>
        <p:spPr>
          <a:xfrm>
            <a:off x="960120" y="2057400"/>
            <a:ext cx="10332720" cy="320040"/>
          </a:xfrm>
          <a:prstGeom prst="rect">
            <a:avLst/>
          </a:prstGeom>
          <a:noFill/>
          <a:ln/>
        </p:spPr>
        <p:txBody>
          <a:bodyPr wrap="square"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Engineered features (examples)</a:t>
            </a:r>
            <a:endParaRPr lang="en-US" sz="1400" dirty="0"/>
          </a:p>
        </p:txBody>
      </p:sp>
      <p:sp>
        <p:nvSpPr>
          <p:cNvPr id="7" name="Text 5"/>
          <p:cNvSpPr/>
          <p:nvPr/>
        </p:nvSpPr>
        <p:spPr>
          <a:xfrm>
            <a:off x="960120" y="2423160"/>
            <a:ext cx="10332720" cy="3520440"/>
          </a:xfrm>
          <a:prstGeom prst="rect">
            <a:avLst/>
          </a:prstGeom>
          <a:noFill/>
          <a:ln/>
        </p:spPr>
        <p:txBody>
          <a:bodyPr wrap="square" rtlCol="0" anchor="t"/>
          <a:lstStyle/>
          <a:p>
            <a:pPr indent="0" marL="0">
              <a:buNone/>
            </a:pPr>
            <a:r>
              <a:rPr lang="en-US" sz="1200" dirty="0">
                <a:solidFill>
                  <a:srgbClr val="2B2B2B"/>
                </a:solidFill>
                <a:latin typeface="Calibri" pitchFamily="34" charset="0"/>
                <a:ea typeface="Calibri" pitchFamily="34" charset="-122"/>
                <a:cs typeface="Calibri" pitchFamily="34" charset="-120"/>
              </a:rPr>
              <a:t>• Log size proxy: x1_log = log(1 + max(x1, 0)) to reduce scale effects.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Trend feature: x1_growth = (x1 - lag(x1)) / (|lag(x1)| + 1) within firm.</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Data availability flag: has_prior_year indicates whether lag() exists.</a:t>
            </a:r>
            <a:endParaRPr lang="en-US" sz="1200" dirty="0"/>
          </a:p>
          <a:p>
            <a:pPr indent="0" marL="0">
              <a:buNone/>
            </a:pP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Rationale: bankruptcy signals can appear as changes over time, and log transforms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can stabilize heavy-tailed financial variables.</a:t>
            </a:r>
            <a:endParaRPr lang="en-US" sz="1200" dirty="0"/>
          </a:p>
        </p:txBody>
      </p:sp>
      <p:sp>
        <p:nvSpPr>
          <p:cNvPr id="8" name="Shape 6"/>
          <p:cNvSpPr/>
          <p:nvPr/>
        </p:nvSpPr>
        <p:spPr>
          <a:xfrm>
            <a:off x="640080" y="6446520"/>
            <a:ext cx="10972800" cy="0"/>
          </a:xfrm>
          <a:prstGeom prst="line">
            <a:avLst/>
          </a:prstGeom>
          <a:noFill/>
          <a:ln w="12700">
            <a:solidFill>
              <a:srgbClr val="E5E7EB"/>
            </a:solidFill>
            <a:prstDash val="solid"/>
          </a:ln>
        </p:spPr>
      </p:sp>
      <p:sp>
        <p:nvSpPr>
          <p:cNvPr id="9" name="Text 7"/>
          <p:cNvSpPr/>
          <p:nvPr/>
        </p:nvSpPr>
        <p:spPr>
          <a:xfrm>
            <a:off x="640080" y="6510528"/>
            <a:ext cx="86868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Assignment 8 — Bankruptcy EDA &amp; Clustering</a:t>
            </a:r>
            <a:endParaRPr lang="en-US" sz="1000" dirty="0"/>
          </a:p>
        </p:txBody>
      </p:sp>
      <p:sp>
        <p:nvSpPr>
          <p:cNvPr id="10" name="Text 8"/>
          <p:cNvSpPr/>
          <p:nvPr/>
        </p:nvSpPr>
        <p:spPr>
          <a:xfrm>
            <a:off x="9692640" y="6510528"/>
            <a:ext cx="19202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k-means (k=2)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502920"/>
            <a:ext cx="10972800" cy="548640"/>
          </a:xfrm>
          <a:prstGeom prst="rect">
            <a:avLst/>
          </a:prstGeom>
          <a:noFill/>
          <a:ln/>
        </p:spPr>
        <p:txBody>
          <a:bodyPr wrap="square" rtlCol="0" anchor="ctr"/>
          <a:lstStyle/>
          <a:p>
            <a:pPr indent="0" marL="0">
              <a:buNone/>
            </a:pPr>
            <a:r>
              <a:rPr lang="en-US" sz="3400" b="1" dirty="0">
                <a:solidFill>
                  <a:srgbClr val="2B2B2B"/>
                </a:solidFill>
                <a:latin typeface="Calibri" pitchFamily="34" charset="0"/>
                <a:ea typeface="Calibri" pitchFamily="34" charset="-122"/>
                <a:cs typeface="Calibri" pitchFamily="34" charset="-120"/>
              </a:rPr>
              <a:t>Train/Test Split (No Leakage)</a:t>
            </a:r>
            <a:endParaRPr lang="en-US" sz="3400" dirty="0"/>
          </a:p>
        </p:txBody>
      </p:sp>
      <p:sp>
        <p:nvSpPr>
          <p:cNvPr id="3" name="Text 1"/>
          <p:cNvSpPr/>
          <p:nvPr/>
        </p:nvSpPr>
        <p:spPr>
          <a:xfrm>
            <a:off x="640080" y="1051560"/>
            <a:ext cx="10972800" cy="45720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How we kept evaluation honest</a:t>
            </a:r>
            <a:endParaRPr lang="en-US" sz="1600" dirty="0"/>
          </a:p>
        </p:txBody>
      </p:sp>
      <p:sp>
        <p:nvSpPr>
          <p:cNvPr id="4" name="Shape 2"/>
          <p:cNvSpPr/>
          <p:nvPr/>
        </p:nvSpPr>
        <p:spPr>
          <a:xfrm>
            <a:off x="640080" y="1554480"/>
            <a:ext cx="10972800" cy="0"/>
          </a:xfrm>
          <a:prstGeom prst="line">
            <a:avLst/>
          </a:prstGeom>
          <a:noFill/>
          <a:ln w="12700">
            <a:solidFill>
              <a:srgbClr val="E5E7EB"/>
            </a:solidFill>
            <a:prstDash val="solid"/>
          </a:ln>
        </p:spPr>
      </p:sp>
      <p:sp>
        <p:nvSpPr>
          <p:cNvPr id="5" name="Shape 3"/>
          <p:cNvSpPr/>
          <p:nvPr/>
        </p:nvSpPr>
        <p:spPr>
          <a:xfrm>
            <a:off x="640080" y="1828800"/>
            <a:ext cx="10972800" cy="4297680"/>
          </a:xfrm>
          <a:prstGeom prst="roundRect">
            <a:avLst/>
          </a:prstGeom>
          <a:solidFill>
            <a:srgbClr val="F8FAFC"/>
          </a:solidFill>
          <a:ln w="12700">
            <a:solidFill>
              <a:srgbClr val="E5E7EB"/>
            </a:solidFill>
            <a:prstDash val="solid"/>
          </a:ln>
        </p:spPr>
      </p:sp>
      <p:sp>
        <p:nvSpPr>
          <p:cNvPr id="6" name="Text 4"/>
          <p:cNvSpPr/>
          <p:nvPr/>
        </p:nvSpPr>
        <p:spPr>
          <a:xfrm>
            <a:off x="960120" y="2057400"/>
            <a:ext cx="10332720" cy="320040"/>
          </a:xfrm>
          <a:prstGeom prst="rect">
            <a:avLst/>
          </a:prstGeom>
          <a:noFill/>
          <a:ln/>
        </p:spPr>
        <p:txBody>
          <a:bodyPr wrap="square"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Leakage controls</a:t>
            </a:r>
            <a:endParaRPr lang="en-US" sz="1400" dirty="0"/>
          </a:p>
        </p:txBody>
      </p:sp>
      <p:sp>
        <p:nvSpPr>
          <p:cNvPr id="7" name="Text 5"/>
          <p:cNvSpPr/>
          <p:nvPr/>
        </p:nvSpPr>
        <p:spPr>
          <a:xfrm>
            <a:off x="960120" y="2423160"/>
            <a:ext cx="10332720" cy="3520440"/>
          </a:xfrm>
          <a:prstGeom prst="rect">
            <a:avLst/>
          </a:prstGeom>
          <a:noFill/>
          <a:ln/>
        </p:spPr>
        <p:txBody>
          <a:bodyPr wrap="square" rtlCol="0" anchor="t"/>
          <a:lstStyle/>
          <a:p>
            <a:pPr indent="0" marL="0">
              <a:buNone/>
            </a:pPr>
            <a:r>
              <a:rPr lang="en-US" sz="1200" dirty="0">
                <a:solidFill>
                  <a:srgbClr val="2B2B2B"/>
                </a:solidFill>
                <a:latin typeface="Calibri" pitchFamily="34" charset="0"/>
                <a:ea typeface="Calibri" pitchFamily="34" charset="-122"/>
                <a:cs typeface="Calibri" pitchFamily="34" charset="-120"/>
              </a:rPr>
              <a:t>• We split the company-level table so each firm appears in only one split.</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All preprocessing (winsorization caps, scaling) is learned on training data only.</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The test set is used once at the end for performance reporting.</a:t>
            </a:r>
            <a:endParaRPr lang="en-US" sz="1200" dirty="0"/>
          </a:p>
          <a:p>
            <a:pPr indent="0" marL="0">
              <a:buNone/>
            </a:pP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This prevents “peeking” at the test distribution when transforming features.</a:t>
            </a:r>
            <a:endParaRPr lang="en-US" sz="1200" dirty="0"/>
          </a:p>
        </p:txBody>
      </p:sp>
      <p:sp>
        <p:nvSpPr>
          <p:cNvPr id="8" name="Shape 6"/>
          <p:cNvSpPr/>
          <p:nvPr/>
        </p:nvSpPr>
        <p:spPr>
          <a:xfrm>
            <a:off x="640080" y="6446520"/>
            <a:ext cx="10972800" cy="0"/>
          </a:xfrm>
          <a:prstGeom prst="line">
            <a:avLst/>
          </a:prstGeom>
          <a:noFill/>
          <a:ln w="12700">
            <a:solidFill>
              <a:srgbClr val="E5E7EB"/>
            </a:solidFill>
            <a:prstDash val="solid"/>
          </a:ln>
        </p:spPr>
      </p:sp>
      <p:sp>
        <p:nvSpPr>
          <p:cNvPr id="9" name="Text 7"/>
          <p:cNvSpPr/>
          <p:nvPr/>
        </p:nvSpPr>
        <p:spPr>
          <a:xfrm>
            <a:off x="640080" y="6510528"/>
            <a:ext cx="86868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Assignment 8 — Bankruptcy EDA &amp; Clustering</a:t>
            </a:r>
            <a:endParaRPr lang="en-US" sz="1000" dirty="0"/>
          </a:p>
        </p:txBody>
      </p:sp>
      <p:sp>
        <p:nvSpPr>
          <p:cNvPr id="10" name="Text 8"/>
          <p:cNvSpPr/>
          <p:nvPr/>
        </p:nvSpPr>
        <p:spPr>
          <a:xfrm>
            <a:off x="9692640" y="6510528"/>
            <a:ext cx="19202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k-means (k=2)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502920"/>
            <a:ext cx="10972800" cy="548640"/>
          </a:xfrm>
          <a:prstGeom prst="rect">
            <a:avLst/>
          </a:prstGeom>
          <a:noFill/>
          <a:ln/>
        </p:spPr>
        <p:txBody>
          <a:bodyPr wrap="square" rtlCol="0" anchor="ctr"/>
          <a:lstStyle/>
          <a:p>
            <a:pPr indent="0" marL="0">
              <a:buNone/>
            </a:pPr>
            <a:r>
              <a:rPr lang="en-US" sz="3400" b="1" dirty="0">
                <a:solidFill>
                  <a:srgbClr val="2B2B2B"/>
                </a:solidFill>
                <a:latin typeface="Calibri" pitchFamily="34" charset="0"/>
                <a:ea typeface="Calibri" pitchFamily="34" charset="-122"/>
                <a:cs typeface="Calibri" pitchFamily="34" charset="-120"/>
              </a:rPr>
              <a:t>K-Means Model (k = 2)</a:t>
            </a:r>
            <a:endParaRPr lang="en-US" sz="3400" dirty="0"/>
          </a:p>
        </p:txBody>
      </p:sp>
      <p:sp>
        <p:nvSpPr>
          <p:cNvPr id="3" name="Text 1"/>
          <p:cNvSpPr/>
          <p:nvPr/>
        </p:nvSpPr>
        <p:spPr>
          <a:xfrm>
            <a:off x="640080" y="1051560"/>
            <a:ext cx="10972800" cy="45720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Model specification</a:t>
            </a:r>
            <a:endParaRPr lang="en-US" sz="1600" dirty="0"/>
          </a:p>
        </p:txBody>
      </p:sp>
      <p:sp>
        <p:nvSpPr>
          <p:cNvPr id="4" name="Shape 2"/>
          <p:cNvSpPr/>
          <p:nvPr/>
        </p:nvSpPr>
        <p:spPr>
          <a:xfrm>
            <a:off x="640080" y="1554480"/>
            <a:ext cx="10972800" cy="0"/>
          </a:xfrm>
          <a:prstGeom prst="line">
            <a:avLst/>
          </a:prstGeom>
          <a:noFill/>
          <a:ln w="12700">
            <a:solidFill>
              <a:srgbClr val="E5E7EB"/>
            </a:solidFill>
            <a:prstDash val="solid"/>
          </a:ln>
        </p:spPr>
      </p:sp>
      <p:sp>
        <p:nvSpPr>
          <p:cNvPr id="5" name="Shape 3"/>
          <p:cNvSpPr/>
          <p:nvPr/>
        </p:nvSpPr>
        <p:spPr>
          <a:xfrm>
            <a:off x="640080" y="1828800"/>
            <a:ext cx="5577840" cy="4297680"/>
          </a:xfrm>
          <a:prstGeom prst="roundRect">
            <a:avLst/>
          </a:prstGeom>
          <a:solidFill>
            <a:srgbClr val="F8FAFC"/>
          </a:solidFill>
          <a:ln w="12700">
            <a:solidFill>
              <a:srgbClr val="E5E7EB"/>
            </a:solidFill>
            <a:prstDash val="solid"/>
          </a:ln>
        </p:spPr>
      </p:sp>
      <p:sp>
        <p:nvSpPr>
          <p:cNvPr id="6" name="Text 4"/>
          <p:cNvSpPr/>
          <p:nvPr/>
        </p:nvSpPr>
        <p:spPr>
          <a:xfrm>
            <a:off x="960120" y="2057400"/>
            <a:ext cx="4937760" cy="320040"/>
          </a:xfrm>
          <a:prstGeom prst="rect">
            <a:avLst/>
          </a:prstGeom>
          <a:noFill/>
          <a:ln/>
        </p:spPr>
        <p:txBody>
          <a:bodyPr wrap="square"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Algorithm (high level)</a:t>
            </a:r>
            <a:endParaRPr lang="en-US" sz="1400" dirty="0"/>
          </a:p>
        </p:txBody>
      </p:sp>
      <p:sp>
        <p:nvSpPr>
          <p:cNvPr id="7" name="Text 5"/>
          <p:cNvSpPr/>
          <p:nvPr/>
        </p:nvSpPr>
        <p:spPr>
          <a:xfrm>
            <a:off x="960120" y="2423160"/>
            <a:ext cx="4937760" cy="3520440"/>
          </a:xfrm>
          <a:prstGeom prst="rect">
            <a:avLst/>
          </a:prstGeom>
          <a:noFill/>
          <a:ln/>
        </p:spPr>
        <p:txBody>
          <a:bodyPr wrap="square" rtlCol="0" anchor="t"/>
          <a:lstStyle/>
          <a:p>
            <a:pPr indent="0" marL="0">
              <a:buNone/>
            </a:pPr>
            <a:r>
              <a:rPr lang="en-US" sz="1200" dirty="0">
                <a:solidFill>
                  <a:srgbClr val="2B2B2B"/>
                </a:solidFill>
                <a:latin typeface="Calibri" pitchFamily="34" charset="0"/>
                <a:ea typeface="Calibri" pitchFamily="34" charset="-122"/>
                <a:cs typeface="Calibri" pitchFamily="34" charset="-120"/>
              </a:rPr>
              <a:t>1) Initialize 2 centroids (multiple random starts)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2) Assign each firm to nearest centroid (Euclidean distance)</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3) Update centroids as the mean of assigned points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4) Iterate until assignments stabilize</a:t>
            </a:r>
            <a:endParaRPr lang="en-US" sz="1200" dirty="0"/>
          </a:p>
        </p:txBody>
      </p:sp>
      <p:sp>
        <p:nvSpPr>
          <p:cNvPr id="8" name="Shape 6"/>
          <p:cNvSpPr/>
          <p:nvPr/>
        </p:nvSpPr>
        <p:spPr>
          <a:xfrm>
            <a:off x="6400800" y="1828800"/>
            <a:ext cx="5212080" cy="4297680"/>
          </a:xfrm>
          <a:prstGeom prst="roundRect">
            <a:avLst/>
          </a:prstGeom>
          <a:solidFill>
            <a:srgbClr val="F8FAFC"/>
          </a:solidFill>
          <a:ln w="12700">
            <a:solidFill>
              <a:srgbClr val="E5E7EB"/>
            </a:solidFill>
            <a:prstDash val="solid"/>
          </a:ln>
        </p:spPr>
      </p:sp>
      <p:sp>
        <p:nvSpPr>
          <p:cNvPr id="9" name="Text 7"/>
          <p:cNvSpPr/>
          <p:nvPr/>
        </p:nvSpPr>
        <p:spPr>
          <a:xfrm>
            <a:off x="6720840" y="2057400"/>
            <a:ext cx="4572000" cy="320040"/>
          </a:xfrm>
          <a:prstGeom prst="rect">
            <a:avLst/>
          </a:prstGeom>
          <a:noFill/>
          <a:ln/>
        </p:spPr>
        <p:txBody>
          <a:bodyPr wrap="square"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Implementation choices</a:t>
            </a:r>
            <a:endParaRPr lang="en-US" sz="1400" dirty="0"/>
          </a:p>
        </p:txBody>
      </p:sp>
      <p:sp>
        <p:nvSpPr>
          <p:cNvPr id="10" name="Text 8"/>
          <p:cNvSpPr/>
          <p:nvPr/>
        </p:nvSpPr>
        <p:spPr>
          <a:xfrm>
            <a:off x="6720840" y="2423160"/>
            <a:ext cx="4572000" cy="3520440"/>
          </a:xfrm>
          <a:prstGeom prst="rect">
            <a:avLst/>
          </a:prstGeom>
          <a:noFill/>
          <a:ln/>
        </p:spPr>
        <p:txBody>
          <a:bodyPr wrap="square" rtlCol="0" anchor="t"/>
          <a:lstStyle/>
          <a:p>
            <a:pPr indent="0" marL="0">
              <a:buNone/>
            </a:pPr>
            <a:r>
              <a:rPr lang="en-US" sz="1200" dirty="0">
                <a:solidFill>
                  <a:srgbClr val="2B2B2B"/>
                </a:solidFill>
                <a:latin typeface="Calibri" pitchFamily="34" charset="0"/>
                <a:ea typeface="Calibri" pitchFamily="34" charset="-122"/>
                <a:cs typeface="Calibri" pitchFamily="34" charset="-120"/>
              </a:rPr>
              <a:t>• k = 2 to match {alive, failed}</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nstart ≥ 25 to reduce sensitivity to initialization</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Predict test clusters by nearest training centroids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Map clusters → labels using training data only</a:t>
            </a:r>
            <a:endParaRPr lang="en-US" sz="1200" dirty="0"/>
          </a:p>
        </p:txBody>
      </p:sp>
      <p:sp>
        <p:nvSpPr>
          <p:cNvPr id="11" name="Shape 9"/>
          <p:cNvSpPr/>
          <p:nvPr/>
        </p:nvSpPr>
        <p:spPr>
          <a:xfrm>
            <a:off x="640080" y="6446520"/>
            <a:ext cx="10972800" cy="0"/>
          </a:xfrm>
          <a:prstGeom prst="line">
            <a:avLst/>
          </a:prstGeom>
          <a:noFill/>
          <a:ln w="12700">
            <a:solidFill>
              <a:srgbClr val="E5E7EB"/>
            </a:solidFill>
            <a:prstDash val="solid"/>
          </a:ln>
        </p:spPr>
      </p:sp>
      <p:sp>
        <p:nvSpPr>
          <p:cNvPr id="12" name="Text 10"/>
          <p:cNvSpPr/>
          <p:nvPr/>
        </p:nvSpPr>
        <p:spPr>
          <a:xfrm>
            <a:off x="640080" y="6510528"/>
            <a:ext cx="86868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Assignment 8 — Bankruptcy EDA &amp; Clustering</a:t>
            </a:r>
            <a:endParaRPr lang="en-US" sz="1000" dirty="0"/>
          </a:p>
        </p:txBody>
      </p:sp>
      <p:sp>
        <p:nvSpPr>
          <p:cNvPr id="13" name="Text 11"/>
          <p:cNvSpPr/>
          <p:nvPr/>
        </p:nvSpPr>
        <p:spPr>
          <a:xfrm>
            <a:off x="9692640" y="6510528"/>
            <a:ext cx="19202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k-means (k=2)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502920"/>
            <a:ext cx="10972800" cy="548640"/>
          </a:xfrm>
          <a:prstGeom prst="rect">
            <a:avLst/>
          </a:prstGeom>
          <a:noFill/>
          <a:ln/>
        </p:spPr>
        <p:txBody>
          <a:bodyPr wrap="square" rtlCol="0" anchor="ctr"/>
          <a:lstStyle/>
          <a:p>
            <a:pPr indent="0" marL="0">
              <a:buNone/>
            </a:pPr>
            <a:r>
              <a:rPr lang="en-US" sz="3400" b="1" dirty="0">
                <a:solidFill>
                  <a:srgbClr val="2B2B2B"/>
                </a:solidFill>
                <a:latin typeface="Calibri" pitchFamily="34" charset="0"/>
                <a:ea typeface="Calibri" pitchFamily="34" charset="-122"/>
                <a:cs typeface="Calibri" pitchFamily="34" charset="-120"/>
              </a:rPr>
              <a:t>Cluster Interpretation</a:t>
            </a:r>
            <a:endParaRPr lang="en-US" sz="3400" dirty="0"/>
          </a:p>
        </p:txBody>
      </p:sp>
      <p:sp>
        <p:nvSpPr>
          <p:cNvPr id="3" name="Text 1"/>
          <p:cNvSpPr/>
          <p:nvPr/>
        </p:nvSpPr>
        <p:spPr>
          <a:xfrm>
            <a:off x="640080" y="1051560"/>
            <a:ext cx="10972800" cy="45720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How we explain what each cluster represents</a:t>
            </a:r>
            <a:endParaRPr lang="en-US" sz="1600" dirty="0"/>
          </a:p>
        </p:txBody>
      </p:sp>
      <p:sp>
        <p:nvSpPr>
          <p:cNvPr id="4" name="Shape 2"/>
          <p:cNvSpPr/>
          <p:nvPr/>
        </p:nvSpPr>
        <p:spPr>
          <a:xfrm>
            <a:off x="640080" y="1554480"/>
            <a:ext cx="10972800" cy="0"/>
          </a:xfrm>
          <a:prstGeom prst="line">
            <a:avLst/>
          </a:prstGeom>
          <a:noFill/>
          <a:ln w="12700">
            <a:solidFill>
              <a:srgbClr val="E5E7EB"/>
            </a:solidFill>
            <a:prstDash val="solid"/>
          </a:ln>
        </p:spPr>
      </p:sp>
      <p:sp>
        <p:nvSpPr>
          <p:cNvPr id="5" name="Shape 3"/>
          <p:cNvSpPr/>
          <p:nvPr/>
        </p:nvSpPr>
        <p:spPr>
          <a:xfrm>
            <a:off x="640080" y="1828800"/>
            <a:ext cx="10972800" cy="4297680"/>
          </a:xfrm>
          <a:prstGeom prst="roundRect">
            <a:avLst/>
          </a:prstGeom>
          <a:solidFill>
            <a:srgbClr val="F8FAFC"/>
          </a:solidFill>
          <a:ln w="12700">
            <a:solidFill>
              <a:srgbClr val="E5E7EB"/>
            </a:solidFill>
            <a:prstDash val="solid"/>
          </a:ln>
        </p:spPr>
      </p:sp>
      <p:sp>
        <p:nvSpPr>
          <p:cNvPr id="6" name="Text 4"/>
          <p:cNvSpPr/>
          <p:nvPr/>
        </p:nvSpPr>
        <p:spPr>
          <a:xfrm>
            <a:off x="960120" y="2057400"/>
            <a:ext cx="10332720" cy="320040"/>
          </a:xfrm>
          <a:prstGeom prst="rect">
            <a:avLst/>
          </a:prstGeom>
          <a:noFill/>
          <a:ln/>
        </p:spPr>
        <p:txBody>
          <a:bodyPr wrap="square"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Interpretation approach</a:t>
            </a:r>
            <a:endParaRPr lang="en-US" sz="1400" dirty="0"/>
          </a:p>
        </p:txBody>
      </p:sp>
      <p:sp>
        <p:nvSpPr>
          <p:cNvPr id="7" name="Text 5"/>
          <p:cNvSpPr/>
          <p:nvPr/>
        </p:nvSpPr>
        <p:spPr>
          <a:xfrm>
            <a:off x="960120" y="2423160"/>
            <a:ext cx="10332720" cy="3520440"/>
          </a:xfrm>
          <a:prstGeom prst="rect">
            <a:avLst/>
          </a:prstGeom>
          <a:noFill/>
          <a:ln/>
        </p:spPr>
        <p:txBody>
          <a:bodyPr wrap="square" rtlCol="0" anchor="t"/>
          <a:lstStyle/>
          <a:p>
            <a:pPr indent="0" marL="0">
              <a:buNone/>
            </a:pPr>
            <a:r>
              <a:rPr lang="en-US" sz="1200" dirty="0">
                <a:solidFill>
                  <a:srgbClr val="2B2B2B"/>
                </a:solidFill>
                <a:latin typeface="Calibri" pitchFamily="34" charset="0"/>
                <a:ea typeface="Calibri" pitchFamily="34" charset="-122"/>
                <a:cs typeface="Calibri" pitchFamily="34" charset="-120"/>
              </a:rPr>
              <a:t>• Compare cluster centroids/means on key engineered features (e.g., x1_log, x1_growth).</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Visualize separation in PCA space and inspect overlap between clusters and labels.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Report the bankruptcy rate inside each cluster on training data.</a:t>
            </a:r>
            <a:endParaRPr lang="en-US" sz="1200" dirty="0"/>
          </a:p>
          <a:p>
            <a:pPr indent="0" marL="0">
              <a:buNone/>
            </a:pP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In the report, the “cluster diagram” uses PCA + cluster labels to show structure.</a:t>
            </a:r>
            <a:endParaRPr lang="en-US" sz="1200" dirty="0"/>
          </a:p>
        </p:txBody>
      </p:sp>
      <p:sp>
        <p:nvSpPr>
          <p:cNvPr id="8" name="Shape 6"/>
          <p:cNvSpPr/>
          <p:nvPr/>
        </p:nvSpPr>
        <p:spPr>
          <a:xfrm>
            <a:off x="640080" y="6446520"/>
            <a:ext cx="10972800" cy="0"/>
          </a:xfrm>
          <a:prstGeom prst="line">
            <a:avLst/>
          </a:prstGeom>
          <a:noFill/>
          <a:ln w="12700">
            <a:solidFill>
              <a:srgbClr val="E5E7EB"/>
            </a:solidFill>
            <a:prstDash val="solid"/>
          </a:ln>
        </p:spPr>
      </p:sp>
      <p:sp>
        <p:nvSpPr>
          <p:cNvPr id="9" name="Text 7"/>
          <p:cNvSpPr/>
          <p:nvPr/>
        </p:nvSpPr>
        <p:spPr>
          <a:xfrm>
            <a:off x="640080" y="6510528"/>
            <a:ext cx="86868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Assignment 8 — Bankruptcy EDA &amp; Clustering</a:t>
            </a:r>
            <a:endParaRPr lang="en-US" sz="1000" dirty="0"/>
          </a:p>
        </p:txBody>
      </p:sp>
      <p:sp>
        <p:nvSpPr>
          <p:cNvPr id="10" name="Text 8"/>
          <p:cNvSpPr/>
          <p:nvPr/>
        </p:nvSpPr>
        <p:spPr>
          <a:xfrm>
            <a:off x="9692640" y="6510528"/>
            <a:ext cx="19202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k-means (k=2)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502920"/>
            <a:ext cx="10972800" cy="548640"/>
          </a:xfrm>
          <a:prstGeom prst="rect">
            <a:avLst/>
          </a:prstGeom>
          <a:noFill/>
          <a:ln/>
        </p:spPr>
        <p:txBody>
          <a:bodyPr wrap="square" rtlCol="0" anchor="ctr"/>
          <a:lstStyle/>
          <a:p>
            <a:pPr indent="0" marL="0">
              <a:buNone/>
            </a:pPr>
            <a:r>
              <a:rPr lang="en-US" sz="3400" b="1" dirty="0">
                <a:solidFill>
                  <a:srgbClr val="2B2B2B"/>
                </a:solidFill>
                <a:latin typeface="Calibri" pitchFamily="34" charset="0"/>
                <a:ea typeface="Calibri" pitchFamily="34" charset="-122"/>
                <a:cs typeface="Calibri" pitchFamily="34" charset="-120"/>
              </a:rPr>
              <a:t>Model Evaluation on Test Set</a:t>
            </a:r>
            <a:endParaRPr lang="en-US" sz="3400" dirty="0"/>
          </a:p>
        </p:txBody>
      </p:sp>
      <p:sp>
        <p:nvSpPr>
          <p:cNvPr id="3" name="Text 1"/>
          <p:cNvSpPr/>
          <p:nvPr/>
        </p:nvSpPr>
        <p:spPr>
          <a:xfrm>
            <a:off x="640080" y="1051560"/>
            <a:ext cx="10972800" cy="45720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Precision, recall, accuracy, and F1</a:t>
            </a:r>
            <a:endParaRPr lang="en-US" sz="1600" dirty="0"/>
          </a:p>
        </p:txBody>
      </p:sp>
      <p:sp>
        <p:nvSpPr>
          <p:cNvPr id="4" name="Shape 2"/>
          <p:cNvSpPr/>
          <p:nvPr/>
        </p:nvSpPr>
        <p:spPr>
          <a:xfrm>
            <a:off x="640080" y="1554480"/>
            <a:ext cx="10972800" cy="0"/>
          </a:xfrm>
          <a:prstGeom prst="line">
            <a:avLst/>
          </a:prstGeom>
          <a:noFill/>
          <a:ln w="12700">
            <a:solidFill>
              <a:srgbClr val="E5E7EB"/>
            </a:solidFill>
            <a:prstDash val="solid"/>
          </a:ln>
        </p:spPr>
      </p:sp>
      <p:sp>
        <p:nvSpPr>
          <p:cNvPr id="5" name="Shape 3"/>
          <p:cNvSpPr/>
          <p:nvPr/>
        </p:nvSpPr>
        <p:spPr>
          <a:xfrm>
            <a:off x="640080" y="1828800"/>
            <a:ext cx="5577840" cy="4297680"/>
          </a:xfrm>
          <a:prstGeom prst="roundRect">
            <a:avLst/>
          </a:prstGeom>
          <a:solidFill>
            <a:srgbClr val="F8FAFC"/>
          </a:solidFill>
          <a:ln w="12700">
            <a:solidFill>
              <a:srgbClr val="E5E7EB"/>
            </a:solidFill>
            <a:prstDash val="solid"/>
          </a:ln>
        </p:spPr>
      </p:sp>
      <p:sp>
        <p:nvSpPr>
          <p:cNvPr id="6" name="Text 4"/>
          <p:cNvSpPr/>
          <p:nvPr/>
        </p:nvSpPr>
        <p:spPr>
          <a:xfrm>
            <a:off x="960120" y="2057400"/>
            <a:ext cx="4937760" cy="320040"/>
          </a:xfrm>
          <a:prstGeom prst="rect">
            <a:avLst/>
          </a:prstGeom>
          <a:noFill/>
          <a:ln/>
        </p:spPr>
        <p:txBody>
          <a:bodyPr wrap="square"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What we compute</a:t>
            </a:r>
            <a:endParaRPr lang="en-US" sz="1400" dirty="0"/>
          </a:p>
        </p:txBody>
      </p:sp>
      <p:sp>
        <p:nvSpPr>
          <p:cNvPr id="7" name="Text 5"/>
          <p:cNvSpPr/>
          <p:nvPr/>
        </p:nvSpPr>
        <p:spPr>
          <a:xfrm>
            <a:off x="960120" y="2423160"/>
            <a:ext cx="4937760" cy="3520440"/>
          </a:xfrm>
          <a:prstGeom prst="rect">
            <a:avLst/>
          </a:prstGeom>
          <a:noFill/>
          <a:ln/>
        </p:spPr>
        <p:txBody>
          <a:bodyPr wrap="square" rtlCol="0" anchor="t"/>
          <a:lstStyle/>
          <a:p>
            <a:pPr indent="0" marL="0">
              <a:buNone/>
            </a:pPr>
            <a:r>
              <a:rPr lang="en-US" sz="1200" dirty="0">
                <a:solidFill>
                  <a:srgbClr val="2B2B2B"/>
                </a:solidFill>
                <a:latin typeface="Calibri" pitchFamily="34" charset="0"/>
                <a:ea typeface="Calibri" pitchFamily="34" charset="-122"/>
                <a:cs typeface="Calibri" pitchFamily="34" charset="-120"/>
              </a:rPr>
              <a:t>• Precision (PPV): TP / (TP + FP)</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Recall (Sensitivity): TP / (TP + FN)</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Accuracy: (TP + TN) / N</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F1: harmonic mean of precision and recall</a:t>
            </a:r>
            <a:endParaRPr lang="en-US" sz="1200" dirty="0"/>
          </a:p>
        </p:txBody>
      </p:sp>
      <p:sp>
        <p:nvSpPr>
          <p:cNvPr id="8" name="Shape 6"/>
          <p:cNvSpPr/>
          <p:nvPr/>
        </p:nvSpPr>
        <p:spPr>
          <a:xfrm>
            <a:off x="6400800" y="1828800"/>
            <a:ext cx="5212080" cy="4297680"/>
          </a:xfrm>
          <a:prstGeom prst="roundRect">
            <a:avLst/>
          </a:prstGeom>
          <a:solidFill>
            <a:srgbClr val="F8FAFC"/>
          </a:solidFill>
          <a:ln w="12700">
            <a:solidFill>
              <a:srgbClr val="E5E7EB"/>
            </a:solidFill>
            <a:prstDash val="solid"/>
          </a:ln>
        </p:spPr>
      </p:sp>
      <p:sp>
        <p:nvSpPr>
          <p:cNvPr id="9" name="Text 7"/>
          <p:cNvSpPr/>
          <p:nvPr/>
        </p:nvSpPr>
        <p:spPr>
          <a:xfrm>
            <a:off x="6720840" y="2057400"/>
            <a:ext cx="4572000" cy="320040"/>
          </a:xfrm>
          <a:prstGeom prst="rect">
            <a:avLst/>
          </a:prstGeom>
          <a:noFill/>
          <a:ln/>
        </p:spPr>
        <p:txBody>
          <a:bodyPr wrap="square"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How to interpret (imbalance)</a:t>
            </a:r>
            <a:endParaRPr lang="en-US" sz="1400" dirty="0"/>
          </a:p>
        </p:txBody>
      </p:sp>
      <p:sp>
        <p:nvSpPr>
          <p:cNvPr id="10" name="Text 8"/>
          <p:cNvSpPr/>
          <p:nvPr/>
        </p:nvSpPr>
        <p:spPr>
          <a:xfrm>
            <a:off x="6720840" y="2423160"/>
            <a:ext cx="4572000" cy="3520440"/>
          </a:xfrm>
          <a:prstGeom prst="rect">
            <a:avLst/>
          </a:prstGeom>
          <a:noFill/>
          <a:ln/>
        </p:spPr>
        <p:txBody>
          <a:bodyPr wrap="square" rtlCol="0" anchor="t"/>
          <a:lstStyle/>
          <a:p>
            <a:pPr indent="0" marL="0">
              <a:buNone/>
            </a:pPr>
            <a:r>
              <a:rPr lang="en-US" sz="1200" dirty="0">
                <a:solidFill>
                  <a:srgbClr val="2B2B2B"/>
                </a:solidFill>
                <a:latin typeface="Calibri" pitchFamily="34" charset="0"/>
                <a:ea typeface="Calibri" pitchFamily="34" charset="-122"/>
                <a:cs typeface="Calibri" pitchFamily="34" charset="-120"/>
              </a:rPr>
              <a:t>• With rare bankruptcies, accuracy can look “good” even if</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the model never detects failures.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Precision–recall tradeoffs matter more than accuracy alone.</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We report a confusion matrix and all four metrics.</a:t>
            </a:r>
            <a:endParaRPr lang="en-US" sz="1200" dirty="0"/>
          </a:p>
          <a:p>
            <a:pPr indent="0" marL="0">
              <a:buNone/>
            </a:pP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Numbers are computed in the R Markdown report when knit.</a:t>
            </a:r>
            <a:endParaRPr lang="en-US" sz="1200" dirty="0"/>
          </a:p>
        </p:txBody>
      </p:sp>
      <p:sp>
        <p:nvSpPr>
          <p:cNvPr id="11" name="Shape 9"/>
          <p:cNvSpPr/>
          <p:nvPr/>
        </p:nvSpPr>
        <p:spPr>
          <a:xfrm>
            <a:off x="640080" y="6446520"/>
            <a:ext cx="10972800" cy="0"/>
          </a:xfrm>
          <a:prstGeom prst="line">
            <a:avLst/>
          </a:prstGeom>
          <a:noFill/>
          <a:ln w="12700">
            <a:solidFill>
              <a:srgbClr val="E5E7EB"/>
            </a:solidFill>
            <a:prstDash val="solid"/>
          </a:ln>
        </p:spPr>
      </p:sp>
      <p:sp>
        <p:nvSpPr>
          <p:cNvPr id="12" name="Text 10"/>
          <p:cNvSpPr/>
          <p:nvPr/>
        </p:nvSpPr>
        <p:spPr>
          <a:xfrm>
            <a:off x="640080" y="6510528"/>
            <a:ext cx="86868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Assignment 8 — Bankruptcy EDA &amp; Clustering</a:t>
            </a:r>
            <a:endParaRPr lang="en-US" sz="1000" dirty="0"/>
          </a:p>
        </p:txBody>
      </p:sp>
      <p:sp>
        <p:nvSpPr>
          <p:cNvPr id="13" name="Text 11"/>
          <p:cNvSpPr/>
          <p:nvPr/>
        </p:nvSpPr>
        <p:spPr>
          <a:xfrm>
            <a:off x="9692640" y="6510528"/>
            <a:ext cx="19202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k-means (k=2)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502920"/>
            <a:ext cx="10972800" cy="548640"/>
          </a:xfrm>
          <a:prstGeom prst="rect">
            <a:avLst/>
          </a:prstGeom>
          <a:noFill/>
          <a:ln/>
        </p:spPr>
        <p:txBody>
          <a:bodyPr wrap="square" rtlCol="0" anchor="ctr"/>
          <a:lstStyle/>
          <a:p>
            <a:pPr indent="0" marL="0">
              <a:buNone/>
            </a:pPr>
            <a:r>
              <a:rPr lang="en-US" sz="3400" b="1" dirty="0">
                <a:solidFill>
                  <a:srgbClr val="2B2B2B"/>
                </a:solidFill>
                <a:latin typeface="Calibri" pitchFamily="34" charset="0"/>
                <a:ea typeface="Calibri" pitchFamily="34" charset="-122"/>
                <a:cs typeface="Calibri" pitchFamily="34" charset="-120"/>
              </a:rPr>
              <a:t>Results Summary</a:t>
            </a:r>
            <a:endParaRPr lang="en-US" sz="3400" dirty="0"/>
          </a:p>
        </p:txBody>
      </p:sp>
      <p:sp>
        <p:nvSpPr>
          <p:cNvPr id="3" name="Text 1"/>
          <p:cNvSpPr/>
          <p:nvPr/>
        </p:nvSpPr>
        <p:spPr>
          <a:xfrm>
            <a:off x="640080" y="1051560"/>
            <a:ext cx="10972800" cy="45720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What clustering did well (and didn't)</a:t>
            </a:r>
            <a:endParaRPr lang="en-US" sz="1600" dirty="0"/>
          </a:p>
        </p:txBody>
      </p:sp>
      <p:sp>
        <p:nvSpPr>
          <p:cNvPr id="4" name="Shape 2"/>
          <p:cNvSpPr/>
          <p:nvPr/>
        </p:nvSpPr>
        <p:spPr>
          <a:xfrm>
            <a:off x="640080" y="1554480"/>
            <a:ext cx="10972800" cy="0"/>
          </a:xfrm>
          <a:prstGeom prst="line">
            <a:avLst/>
          </a:prstGeom>
          <a:noFill/>
          <a:ln w="12700">
            <a:solidFill>
              <a:srgbClr val="E5E7EB"/>
            </a:solidFill>
            <a:prstDash val="solid"/>
          </a:ln>
        </p:spPr>
      </p:sp>
      <p:sp>
        <p:nvSpPr>
          <p:cNvPr id="5" name="Shape 3"/>
          <p:cNvSpPr/>
          <p:nvPr/>
        </p:nvSpPr>
        <p:spPr>
          <a:xfrm>
            <a:off x="640080" y="1828800"/>
            <a:ext cx="10972800" cy="4297680"/>
          </a:xfrm>
          <a:prstGeom prst="roundRect">
            <a:avLst/>
          </a:prstGeom>
          <a:solidFill>
            <a:srgbClr val="F8FAFC"/>
          </a:solidFill>
          <a:ln w="12700">
            <a:solidFill>
              <a:srgbClr val="E5E7EB"/>
            </a:solidFill>
            <a:prstDash val="solid"/>
          </a:ln>
        </p:spPr>
      </p:sp>
      <p:sp>
        <p:nvSpPr>
          <p:cNvPr id="6" name="Text 4"/>
          <p:cNvSpPr/>
          <p:nvPr/>
        </p:nvSpPr>
        <p:spPr>
          <a:xfrm>
            <a:off x="960120" y="2057400"/>
            <a:ext cx="10332720" cy="320040"/>
          </a:xfrm>
          <a:prstGeom prst="rect">
            <a:avLst/>
          </a:prstGeom>
          <a:noFill/>
          <a:ln/>
        </p:spPr>
        <p:txBody>
          <a:bodyPr wrap="square"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Key findings</a:t>
            </a:r>
            <a:endParaRPr lang="en-US" sz="1400" dirty="0"/>
          </a:p>
        </p:txBody>
      </p:sp>
      <p:sp>
        <p:nvSpPr>
          <p:cNvPr id="7" name="Text 5"/>
          <p:cNvSpPr/>
          <p:nvPr/>
        </p:nvSpPr>
        <p:spPr>
          <a:xfrm>
            <a:off x="960120" y="2423160"/>
            <a:ext cx="10332720" cy="3520440"/>
          </a:xfrm>
          <a:prstGeom prst="rect">
            <a:avLst/>
          </a:prstGeom>
          <a:noFill/>
          <a:ln/>
        </p:spPr>
        <p:txBody>
          <a:bodyPr wrap="square" rtlCol="0" anchor="t"/>
          <a:lstStyle/>
          <a:p>
            <a:pPr indent="0" marL="0">
              <a:buNone/>
            </a:pPr>
            <a:r>
              <a:rPr lang="en-US" sz="1200" dirty="0">
                <a:solidFill>
                  <a:srgbClr val="2B2B2B"/>
                </a:solidFill>
                <a:latin typeface="Calibri" pitchFamily="34" charset="0"/>
                <a:ea typeface="Calibri" pitchFamily="34" charset="-122"/>
                <a:cs typeface="Calibri" pitchFamily="34" charset="-120"/>
              </a:rPr>
              <a:t>• K-means identifies broad financial structure, but overlap between alive and failed firms is substantial.</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Performance depends heavily on how clusters are mapped to labels under imbalance.</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The report includes: descriptive table, &gt;=3 graphs, PCA cluster diagram, and full metric set.</a:t>
            </a:r>
            <a:endParaRPr lang="en-US" sz="1200" dirty="0"/>
          </a:p>
          <a:p>
            <a:pPr indent="0" marL="0">
              <a:buNone/>
            </a:pP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Bottom line: clustering is a useful exploratory baseline, but not a standalone bankruptcy scoring solution.</a:t>
            </a:r>
            <a:endParaRPr lang="en-US" sz="1200" dirty="0"/>
          </a:p>
        </p:txBody>
      </p:sp>
      <p:sp>
        <p:nvSpPr>
          <p:cNvPr id="8" name="Shape 6"/>
          <p:cNvSpPr/>
          <p:nvPr/>
        </p:nvSpPr>
        <p:spPr>
          <a:xfrm>
            <a:off x="640080" y="6446520"/>
            <a:ext cx="10972800" cy="0"/>
          </a:xfrm>
          <a:prstGeom prst="line">
            <a:avLst/>
          </a:prstGeom>
          <a:noFill/>
          <a:ln w="12700">
            <a:solidFill>
              <a:srgbClr val="E5E7EB"/>
            </a:solidFill>
            <a:prstDash val="solid"/>
          </a:ln>
        </p:spPr>
      </p:sp>
      <p:sp>
        <p:nvSpPr>
          <p:cNvPr id="9" name="Text 7"/>
          <p:cNvSpPr/>
          <p:nvPr/>
        </p:nvSpPr>
        <p:spPr>
          <a:xfrm>
            <a:off x="640080" y="6510528"/>
            <a:ext cx="86868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Assignment 8 — Bankruptcy EDA &amp; Clustering</a:t>
            </a:r>
            <a:endParaRPr lang="en-US" sz="1000" dirty="0"/>
          </a:p>
        </p:txBody>
      </p:sp>
      <p:sp>
        <p:nvSpPr>
          <p:cNvPr id="10" name="Text 8"/>
          <p:cNvSpPr/>
          <p:nvPr/>
        </p:nvSpPr>
        <p:spPr>
          <a:xfrm>
            <a:off x="9692640" y="6510528"/>
            <a:ext cx="19202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k-means (k=2)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502920"/>
            <a:ext cx="10972800" cy="548640"/>
          </a:xfrm>
          <a:prstGeom prst="rect">
            <a:avLst/>
          </a:prstGeom>
          <a:noFill/>
          <a:ln/>
        </p:spPr>
        <p:txBody>
          <a:bodyPr wrap="square" rtlCol="0" anchor="ctr"/>
          <a:lstStyle/>
          <a:p>
            <a:pPr indent="0" marL="0">
              <a:buNone/>
            </a:pPr>
            <a:r>
              <a:rPr lang="en-US" sz="3400" b="1" dirty="0">
                <a:solidFill>
                  <a:srgbClr val="2B2B2B"/>
                </a:solidFill>
                <a:latin typeface="Calibri" pitchFamily="34" charset="0"/>
                <a:ea typeface="Calibri" pitchFamily="34" charset="-122"/>
                <a:cs typeface="Calibri" pitchFamily="34" charset="-120"/>
              </a:rPr>
              <a:t>Limitations</a:t>
            </a:r>
            <a:endParaRPr lang="en-US" sz="3400" dirty="0"/>
          </a:p>
        </p:txBody>
      </p:sp>
      <p:sp>
        <p:nvSpPr>
          <p:cNvPr id="3" name="Text 1"/>
          <p:cNvSpPr/>
          <p:nvPr/>
        </p:nvSpPr>
        <p:spPr>
          <a:xfrm>
            <a:off x="640080" y="1051560"/>
            <a:ext cx="10972800" cy="45720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Why k-means is not a panacea</a:t>
            </a:r>
            <a:endParaRPr lang="en-US" sz="1600" dirty="0"/>
          </a:p>
        </p:txBody>
      </p:sp>
      <p:sp>
        <p:nvSpPr>
          <p:cNvPr id="4" name="Shape 2"/>
          <p:cNvSpPr/>
          <p:nvPr/>
        </p:nvSpPr>
        <p:spPr>
          <a:xfrm>
            <a:off x="640080" y="1554480"/>
            <a:ext cx="10972800" cy="0"/>
          </a:xfrm>
          <a:prstGeom prst="line">
            <a:avLst/>
          </a:prstGeom>
          <a:noFill/>
          <a:ln w="12700">
            <a:solidFill>
              <a:srgbClr val="E5E7EB"/>
            </a:solidFill>
            <a:prstDash val="solid"/>
          </a:ln>
        </p:spPr>
      </p:sp>
      <p:sp>
        <p:nvSpPr>
          <p:cNvPr id="5" name="Shape 3"/>
          <p:cNvSpPr/>
          <p:nvPr/>
        </p:nvSpPr>
        <p:spPr>
          <a:xfrm>
            <a:off x="640080" y="1828800"/>
            <a:ext cx="10972800" cy="4297680"/>
          </a:xfrm>
          <a:prstGeom prst="roundRect">
            <a:avLst/>
          </a:prstGeom>
          <a:solidFill>
            <a:srgbClr val="F8FAFC"/>
          </a:solidFill>
          <a:ln w="12700">
            <a:solidFill>
              <a:srgbClr val="E5E7EB"/>
            </a:solidFill>
            <a:prstDash val="solid"/>
          </a:ln>
        </p:spPr>
      </p:sp>
      <p:sp>
        <p:nvSpPr>
          <p:cNvPr id="6" name="Text 4"/>
          <p:cNvSpPr/>
          <p:nvPr/>
        </p:nvSpPr>
        <p:spPr>
          <a:xfrm>
            <a:off x="960120" y="2057400"/>
            <a:ext cx="10332720" cy="320040"/>
          </a:xfrm>
          <a:prstGeom prst="rect">
            <a:avLst/>
          </a:prstGeom>
          <a:noFill/>
          <a:ln/>
        </p:spPr>
        <p:txBody>
          <a:bodyPr wrap="square"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Limitations to report</a:t>
            </a:r>
            <a:endParaRPr lang="en-US" sz="1400" dirty="0"/>
          </a:p>
        </p:txBody>
      </p:sp>
      <p:sp>
        <p:nvSpPr>
          <p:cNvPr id="7" name="Text 5"/>
          <p:cNvSpPr/>
          <p:nvPr/>
        </p:nvSpPr>
        <p:spPr>
          <a:xfrm>
            <a:off x="960120" y="2423160"/>
            <a:ext cx="10332720" cy="3520440"/>
          </a:xfrm>
          <a:prstGeom prst="rect">
            <a:avLst/>
          </a:prstGeom>
          <a:noFill/>
          <a:ln/>
        </p:spPr>
        <p:txBody>
          <a:bodyPr wrap="square" rtlCol="0" anchor="t"/>
          <a:lstStyle/>
          <a:p>
            <a:pPr indent="0" marL="0">
              <a:buNone/>
            </a:pPr>
            <a:r>
              <a:rPr lang="en-US" sz="1200" dirty="0">
                <a:solidFill>
                  <a:srgbClr val="2B2B2B"/>
                </a:solidFill>
                <a:latin typeface="Calibri" pitchFamily="34" charset="0"/>
                <a:ea typeface="Calibri" pitchFamily="34" charset="-122"/>
                <a:cs typeface="Calibri" pitchFamily="34" charset="-120"/>
              </a:rPr>
              <a:t>• K-means assumes roughly spherical clusters and uses Euclidean distance.</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Heavy tails and outliers can still influence results even after winsorization.</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Bankruptcy is rare, so clusters may not align with the minority class.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Features X1–X18 are unlabeled financial indicators, limiting interpretability.</a:t>
            </a:r>
            <a:endParaRPr lang="en-US" sz="1200" dirty="0"/>
          </a:p>
        </p:txBody>
      </p:sp>
      <p:sp>
        <p:nvSpPr>
          <p:cNvPr id="8" name="Shape 6"/>
          <p:cNvSpPr/>
          <p:nvPr/>
        </p:nvSpPr>
        <p:spPr>
          <a:xfrm>
            <a:off x="640080" y="6446520"/>
            <a:ext cx="10972800" cy="0"/>
          </a:xfrm>
          <a:prstGeom prst="line">
            <a:avLst/>
          </a:prstGeom>
          <a:noFill/>
          <a:ln w="12700">
            <a:solidFill>
              <a:srgbClr val="E5E7EB"/>
            </a:solidFill>
            <a:prstDash val="solid"/>
          </a:ln>
        </p:spPr>
      </p:sp>
      <p:sp>
        <p:nvSpPr>
          <p:cNvPr id="9" name="Text 7"/>
          <p:cNvSpPr/>
          <p:nvPr/>
        </p:nvSpPr>
        <p:spPr>
          <a:xfrm>
            <a:off x="640080" y="6510528"/>
            <a:ext cx="86868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Assignment 8 — Bankruptcy EDA &amp; Clustering</a:t>
            </a:r>
            <a:endParaRPr lang="en-US" sz="1000" dirty="0"/>
          </a:p>
        </p:txBody>
      </p:sp>
      <p:sp>
        <p:nvSpPr>
          <p:cNvPr id="10" name="Text 8"/>
          <p:cNvSpPr/>
          <p:nvPr/>
        </p:nvSpPr>
        <p:spPr>
          <a:xfrm>
            <a:off x="9692640" y="6510528"/>
            <a:ext cx="19202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k-means (k=2)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502920"/>
            <a:ext cx="10972800" cy="548640"/>
          </a:xfrm>
          <a:prstGeom prst="rect">
            <a:avLst/>
          </a:prstGeom>
          <a:noFill/>
          <a:ln/>
        </p:spPr>
        <p:txBody>
          <a:bodyPr wrap="square" rtlCol="0" anchor="ctr"/>
          <a:lstStyle/>
          <a:p>
            <a:pPr indent="0" marL="0">
              <a:buNone/>
            </a:pPr>
            <a:r>
              <a:rPr lang="en-US" sz="3400" b="1" dirty="0">
                <a:solidFill>
                  <a:srgbClr val="2B2B2B"/>
                </a:solidFill>
                <a:latin typeface="Calibri" pitchFamily="34" charset="0"/>
                <a:ea typeface="Calibri" pitchFamily="34" charset="-122"/>
                <a:cs typeface="Calibri" pitchFamily="34" charset="-120"/>
              </a:rPr>
              <a:t>Future Work &amp; Takeaways</a:t>
            </a:r>
            <a:endParaRPr lang="en-US" sz="3400" dirty="0"/>
          </a:p>
        </p:txBody>
      </p:sp>
      <p:sp>
        <p:nvSpPr>
          <p:cNvPr id="3" name="Text 1"/>
          <p:cNvSpPr/>
          <p:nvPr/>
        </p:nvSpPr>
        <p:spPr>
          <a:xfrm>
            <a:off x="640080" y="1051560"/>
            <a:ext cx="10972800" cy="45720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Next steps after this course</a:t>
            </a:r>
            <a:endParaRPr lang="en-US" sz="1600" dirty="0"/>
          </a:p>
        </p:txBody>
      </p:sp>
      <p:sp>
        <p:nvSpPr>
          <p:cNvPr id="4" name="Shape 2"/>
          <p:cNvSpPr/>
          <p:nvPr/>
        </p:nvSpPr>
        <p:spPr>
          <a:xfrm>
            <a:off x="640080" y="1554480"/>
            <a:ext cx="10972800" cy="0"/>
          </a:xfrm>
          <a:prstGeom prst="line">
            <a:avLst/>
          </a:prstGeom>
          <a:noFill/>
          <a:ln w="12700">
            <a:solidFill>
              <a:srgbClr val="E5E7EB"/>
            </a:solidFill>
            <a:prstDash val="solid"/>
          </a:ln>
        </p:spPr>
      </p:sp>
      <p:sp>
        <p:nvSpPr>
          <p:cNvPr id="5" name="Shape 3"/>
          <p:cNvSpPr/>
          <p:nvPr/>
        </p:nvSpPr>
        <p:spPr>
          <a:xfrm>
            <a:off x="640080" y="1828800"/>
            <a:ext cx="10972800" cy="4297680"/>
          </a:xfrm>
          <a:prstGeom prst="roundRect">
            <a:avLst/>
          </a:prstGeom>
          <a:solidFill>
            <a:srgbClr val="F8FAFC"/>
          </a:solidFill>
          <a:ln w="12700">
            <a:solidFill>
              <a:srgbClr val="E5E7EB"/>
            </a:solidFill>
            <a:prstDash val="solid"/>
          </a:ln>
        </p:spPr>
      </p:sp>
      <p:sp>
        <p:nvSpPr>
          <p:cNvPr id="6" name="Text 4"/>
          <p:cNvSpPr/>
          <p:nvPr/>
        </p:nvSpPr>
        <p:spPr>
          <a:xfrm>
            <a:off x="960120" y="2057400"/>
            <a:ext cx="10332720" cy="320040"/>
          </a:xfrm>
          <a:prstGeom prst="rect">
            <a:avLst/>
          </a:prstGeom>
          <a:noFill/>
          <a:ln/>
        </p:spPr>
        <p:txBody>
          <a:bodyPr wrap="square"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Practical next steps</a:t>
            </a:r>
            <a:endParaRPr lang="en-US" sz="1400" dirty="0"/>
          </a:p>
        </p:txBody>
      </p:sp>
      <p:sp>
        <p:nvSpPr>
          <p:cNvPr id="7" name="Text 5"/>
          <p:cNvSpPr/>
          <p:nvPr/>
        </p:nvSpPr>
        <p:spPr>
          <a:xfrm>
            <a:off x="960120" y="2423160"/>
            <a:ext cx="10332720" cy="3520440"/>
          </a:xfrm>
          <a:prstGeom prst="rect">
            <a:avLst/>
          </a:prstGeom>
          <a:noFill/>
          <a:ln/>
        </p:spPr>
        <p:txBody>
          <a:bodyPr wrap="square" rtlCol="0" anchor="t"/>
          <a:lstStyle/>
          <a:p>
            <a:pPr indent="0" marL="0">
              <a:buNone/>
            </a:pPr>
            <a:r>
              <a:rPr lang="en-US" sz="1200" dirty="0">
                <a:solidFill>
                  <a:srgbClr val="2B2B2B"/>
                </a:solidFill>
                <a:latin typeface="Calibri" pitchFamily="34" charset="0"/>
                <a:ea typeface="Calibri" pitchFamily="34" charset="-122"/>
                <a:cs typeface="Calibri" pitchFamily="34" charset="-120"/>
              </a:rPr>
              <a:t>1) Compare to supervised baselines (logit / Z-score style) for prediction quality.</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2) Test richer clustering (mixture models, k-medoids) and validate with silhouette.</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3) Add multi-year trend features and test time-aware evaluation designs.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4) If missingness appears in future data, use principled methods (MAR/MNAR theory).</a:t>
            </a:r>
            <a:endParaRPr lang="en-US" sz="1200" dirty="0"/>
          </a:p>
          <a:p>
            <a:pPr indent="0" marL="0">
              <a:buNone/>
            </a:pP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Takeaway: disciplined EDA + leakage control are non-negotiable for trustworthy analytics.</a:t>
            </a:r>
            <a:endParaRPr lang="en-US" sz="1200" dirty="0"/>
          </a:p>
        </p:txBody>
      </p:sp>
      <p:sp>
        <p:nvSpPr>
          <p:cNvPr id="8" name="Shape 6"/>
          <p:cNvSpPr/>
          <p:nvPr/>
        </p:nvSpPr>
        <p:spPr>
          <a:xfrm>
            <a:off x="640080" y="6446520"/>
            <a:ext cx="10972800" cy="0"/>
          </a:xfrm>
          <a:prstGeom prst="line">
            <a:avLst/>
          </a:prstGeom>
          <a:noFill/>
          <a:ln w="12700">
            <a:solidFill>
              <a:srgbClr val="E5E7EB"/>
            </a:solidFill>
            <a:prstDash val="solid"/>
          </a:ln>
        </p:spPr>
      </p:sp>
      <p:sp>
        <p:nvSpPr>
          <p:cNvPr id="9" name="Text 7"/>
          <p:cNvSpPr/>
          <p:nvPr/>
        </p:nvSpPr>
        <p:spPr>
          <a:xfrm>
            <a:off x="640080" y="6510528"/>
            <a:ext cx="86868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Assignment 8 — Bankruptcy EDA &amp; Clustering</a:t>
            </a:r>
            <a:endParaRPr lang="en-US" sz="1000" dirty="0"/>
          </a:p>
        </p:txBody>
      </p:sp>
      <p:sp>
        <p:nvSpPr>
          <p:cNvPr id="10" name="Text 8"/>
          <p:cNvSpPr/>
          <p:nvPr/>
        </p:nvSpPr>
        <p:spPr>
          <a:xfrm>
            <a:off x="9692640" y="6510528"/>
            <a:ext cx="19202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k-means (k=2)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2026-02-02T14:52:37Z</dcterms:created>
  <dcterms:modified xsi:type="dcterms:W3CDTF">2026-02-02T14:52:37Z</dcterms:modified>
</cp:coreProperties>
</file>